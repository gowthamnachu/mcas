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1430000" cy="9340850"/>
  <p:notesSz cx="11430000" cy="9340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608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rgbClr val="52231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rgbClr val="66524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52231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rgbClr val="66524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52231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52231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3133" y="1409858"/>
            <a:ext cx="4939665" cy="130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rgbClr val="52231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7875" y="2807938"/>
            <a:ext cx="5058410" cy="1392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rgbClr val="66524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"/>
            <a:ext cx="11430000" cy="9340597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FF4">
              <a:alpha val="94898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2"/>
            <a:ext cx="4724400" cy="934059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8800"/>
              </a:lnSpc>
              <a:spcBef>
                <a:spcPts val="90"/>
              </a:spcBef>
            </a:pPr>
            <a:r>
              <a:rPr spc="175" dirty="0"/>
              <a:t>Morse</a:t>
            </a:r>
            <a:r>
              <a:rPr spc="-114" dirty="0"/>
              <a:t> </a:t>
            </a:r>
            <a:r>
              <a:rPr spc="170" dirty="0"/>
              <a:t>Code</a:t>
            </a:r>
            <a:r>
              <a:rPr spc="-110" dirty="0"/>
              <a:t> </a:t>
            </a:r>
            <a:r>
              <a:rPr spc="-10" dirty="0"/>
              <a:t>Blink </a:t>
            </a:r>
            <a:r>
              <a:rPr spc="75" dirty="0"/>
              <a:t>Authentication</a:t>
            </a:r>
            <a:r>
              <a:rPr spc="-85" dirty="0"/>
              <a:t> </a:t>
            </a:r>
            <a:r>
              <a:rPr spc="-55" dirty="0"/>
              <a:t>System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73625" y="2780125"/>
            <a:ext cx="5674360" cy="1711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95"/>
              </a:spcBef>
            </a:pPr>
            <a:r>
              <a:rPr sz="2300" dirty="0">
                <a:solidFill>
                  <a:srgbClr val="522317"/>
                </a:solidFill>
                <a:latin typeface="Tahoma"/>
                <a:cs typeface="Tahoma"/>
              </a:rPr>
              <a:t>Hands-Free</a:t>
            </a:r>
            <a:r>
              <a:rPr sz="2300" spc="-90" dirty="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sz="2300" spc="45" dirty="0">
                <a:solidFill>
                  <a:srgbClr val="522317"/>
                </a:solidFill>
                <a:latin typeface="Tahoma"/>
                <a:cs typeface="Tahoma"/>
              </a:rPr>
              <a:t>Authentication</a:t>
            </a:r>
            <a:r>
              <a:rPr sz="2300" spc="-85" dirty="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sz="2300" dirty="0">
                <a:solidFill>
                  <a:srgbClr val="522317"/>
                </a:solidFill>
                <a:latin typeface="Tahoma"/>
                <a:cs typeface="Tahoma"/>
              </a:rPr>
              <a:t>Using</a:t>
            </a:r>
            <a:r>
              <a:rPr sz="2300" spc="-85" dirty="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sz="2300" spc="-20" dirty="0">
                <a:solidFill>
                  <a:srgbClr val="522317"/>
                </a:solidFill>
                <a:latin typeface="Tahoma"/>
                <a:cs typeface="Tahoma"/>
              </a:rPr>
              <a:t>Eye</a:t>
            </a:r>
            <a:r>
              <a:rPr sz="2300" spc="-85" dirty="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sz="2300" spc="-25" dirty="0">
                <a:solidFill>
                  <a:srgbClr val="522317"/>
                </a:solidFill>
                <a:latin typeface="Tahoma"/>
                <a:cs typeface="Tahoma"/>
              </a:rPr>
              <a:t>Blinks </a:t>
            </a:r>
            <a:r>
              <a:rPr sz="2300" dirty="0">
                <a:solidFill>
                  <a:srgbClr val="522317"/>
                </a:solidFill>
                <a:latin typeface="Tahoma"/>
                <a:cs typeface="Tahoma"/>
              </a:rPr>
              <a:t>and</a:t>
            </a:r>
            <a:r>
              <a:rPr sz="2300" spc="-15" dirty="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sz="2300" spc="105" dirty="0">
                <a:solidFill>
                  <a:srgbClr val="522317"/>
                </a:solidFill>
                <a:latin typeface="Tahoma"/>
                <a:cs typeface="Tahoma"/>
              </a:rPr>
              <a:t>Morse</a:t>
            </a:r>
            <a:r>
              <a:rPr sz="2300" spc="-10" dirty="0">
                <a:solidFill>
                  <a:srgbClr val="522317"/>
                </a:solidFill>
                <a:latin typeface="Tahoma"/>
                <a:cs typeface="Tahoma"/>
              </a:rPr>
              <a:t> Timing</a:t>
            </a:r>
            <a:endParaRPr sz="2300" dirty="0">
              <a:latin typeface="Tahoma"/>
              <a:cs typeface="Tahoma"/>
            </a:endParaRPr>
          </a:p>
          <a:p>
            <a:pPr marL="12700" marR="239395" algn="just">
              <a:lnSpc>
                <a:spcPct val="108800"/>
              </a:lnSpc>
              <a:spcBef>
                <a:spcPts val="2095"/>
              </a:spcBef>
            </a:pPr>
            <a:r>
              <a:rPr sz="1350" spc="35" dirty="0">
                <a:solidFill>
                  <a:srgbClr val="66524F"/>
                </a:solidFill>
                <a:latin typeface="Verdana"/>
                <a:cs typeface="Verdana"/>
              </a:rPr>
              <a:t>A</a:t>
            </a:r>
            <a:r>
              <a:rPr sz="1350" spc="-1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5" dirty="0">
                <a:solidFill>
                  <a:srgbClr val="66524F"/>
                </a:solidFill>
                <a:latin typeface="Verdana"/>
                <a:cs typeface="Verdana"/>
              </a:rPr>
              <a:t>vision-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based</a:t>
            </a:r>
            <a:r>
              <a:rPr sz="1350" spc="-1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24F"/>
                </a:solidFill>
                <a:latin typeface="Verdana"/>
                <a:cs typeface="Verdana"/>
              </a:rPr>
              <a:t>security</a:t>
            </a:r>
            <a:r>
              <a:rPr sz="1350" spc="-12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5" dirty="0">
                <a:solidFill>
                  <a:srgbClr val="66524F"/>
                </a:solidFill>
                <a:latin typeface="Verdana"/>
                <a:cs typeface="Verdana"/>
              </a:rPr>
              <a:t>system</a:t>
            </a:r>
            <a:r>
              <a:rPr sz="1350" spc="-1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10" dirty="0">
                <a:solidFill>
                  <a:srgbClr val="66524F"/>
                </a:solidFill>
                <a:latin typeface="Verdana"/>
                <a:cs typeface="Verdana"/>
              </a:rPr>
              <a:t>that</a:t>
            </a:r>
            <a:r>
              <a:rPr sz="1350" spc="-1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5" dirty="0">
                <a:solidFill>
                  <a:srgbClr val="66524F"/>
                </a:solidFill>
                <a:latin typeface="Verdana"/>
                <a:cs typeface="Verdana"/>
              </a:rPr>
              <a:t>converts</a:t>
            </a:r>
            <a:r>
              <a:rPr sz="1350" spc="-1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15" dirty="0">
                <a:solidFill>
                  <a:srgbClr val="66524F"/>
                </a:solidFill>
                <a:latin typeface="Verdana"/>
                <a:cs typeface="Verdana"/>
              </a:rPr>
              <a:t>blink</a:t>
            </a:r>
            <a:r>
              <a:rPr sz="1350" spc="-1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5" dirty="0">
                <a:solidFill>
                  <a:srgbClr val="66524F"/>
                </a:solidFill>
                <a:latin typeface="Verdana"/>
                <a:cs typeface="Verdana"/>
              </a:rPr>
              <a:t>patterns</a:t>
            </a:r>
            <a:r>
              <a:rPr sz="1350" spc="-1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5" dirty="0">
                <a:solidFill>
                  <a:srgbClr val="66524F"/>
                </a:solidFill>
                <a:latin typeface="Verdana"/>
                <a:cs typeface="Verdana"/>
              </a:rPr>
              <a:t>into </a:t>
            </a:r>
            <a:r>
              <a:rPr sz="1350" spc="-5" dirty="0">
                <a:solidFill>
                  <a:srgbClr val="66524F"/>
                </a:solidFill>
                <a:latin typeface="Verdana"/>
                <a:cs typeface="Verdana"/>
              </a:rPr>
              <a:t>binary</a:t>
            </a:r>
            <a:r>
              <a:rPr sz="1350" spc="-12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5" dirty="0">
                <a:solidFill>
                  <a:srgbClr val="66524F"/>
                </a:solidFill>
                <a:latin typeface="Verdana"/>
                <a:cs typeface="Verdana"/>
              </a:rPr>
              <a:t>PINs</a:t>
            </a:r>
            <a:r>
              <a:rPr sz="1350" spc="-1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25" dirty="0">
                <a:solidFill>
                  <a:srgbClr val="66524F"/>
                </a:solidFill>
                <a:latin typeface="Verdana"/>
                <a:cs typeface="Verdana"/>
              </a:rPr>
              <a:t>using</a:t>
            </a:r>
            <a:r>
              <a:rPr sz="1350" spc="-1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45" dirty="0">
                <a:solidFill>
                  <a:srgbClr val="66524F"/>
                </a:solidFill>
                <a:latin typeface="Verdana"/>
                <a:cs typeface="Verdana"/>
              </a:rPr>
              <a:t>MediaPipe</a:t>
            </a:r>
            <a:r>
              <a:rPr sz="1350" spc="-1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30" dirty="0">
                <a:solidFill>
                  <a:srgbClr val="66524F"/>
                </a:solidFill>
                <a:latin typeface="Verdana"/>
                <a:cs typeface="Verdana"/>
              </a:rPr>
              <a:t>and</a:t>
            </a:r>
            <a:r>
              <a:rPr sz="1350" spc="-1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OpenCV,</a:t>
            </a:r>
            <a:r>
              <a:rPr sz="1350" spc="-1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5" dirty="0">
                <a:solidFill>
                  <a:srgbClr val="66524F"/>
                </a:solidFill>
                <a:latin typeface="Verdana"/>
                <a:cs typeface="Verdana"/>
              </a:rPr>
              <a:t>offering</a:t>
            </a:r>
            <a:r>
              <a:rPr sz="1350" spc="-1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24F"/>
                </a:solidFill>
                <a:latin typeface="Verdana"/>
                <a:cs typeface="Verdana"/>
              </a:rPr>
              <a:t>a</a:t>
            </a:r>
            <a:r>
              <a:rPr sz="1350" spc="-1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silent</a:t>
            </a:r>
            <a:r>
              <a:rPr sz="1350" spc="-1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30" dirty="0">
                <a:solidFill>
                  <a:srgbClr val="66524F"/>
                </a:solidFill>
                <a:latin typeface="Verdana"/>
                <a:cs typeface="Verdana"/>
              </a:rPr>
              <a:t>and</a:t>
            </a:r>
            <a:r>
              <a:rPr sz="1350" spc="1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secure</a:t>
            </a:r>
            <a:r>
              <a:rPr sz="1350" spc="-1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40" dirty="0">
                <a:solidFill>
                  <a:srgbClr val="66524F"/>
                </a:solidFill>
                <a:latin typeface="Verdana"/>
                <a:cs typeface="Verdana"/>
              </a:rPr>
              <a:t>method</a:t>
            </a:r>
            <a:r>
              <a:rPr sz="1350" spc="-1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24F"/>
                </a:solidFill>
                <a:latin typeface="Verdana"/>
                <a:cs typeface="Verdana"/>
              </a:rPr>
              <a:t>for</a:t>
            </a:r>
            <a:r>
              <a:rPr sz="1350" spc="-1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personal</a:t>
            </a:r>
            <a:r>
              <a:rPr sz="1350" spc="-1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24F"/>
                </a:solidFill>
                <a:latin typeface="Verdana"/>
                <a:cs typeface="Verdana"/>
              </a:rPr>
              <a:t>verification.</a:t>
            </a:r>
            <a:endParaRPr sz="1350" dirty="0">
              <a:latin typeface="Verdana"/>
              <a:cs typeface="Verdan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B6C879-C57A-0EBC-66D7-60BA62F37281}"/>
              </a:ext>
            </a:extLst>
          </p:cNvPr>
          <p:cNvSpPr txBox="1"/>
          <p:nvPr/>
        </p:nvSpPr>
        <p:spPr>
          <a:xfrm>
            <a:off x="6096000" y="5965825"/>
            <a:ext cx="4191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800" spc="-70" dirty="0">
                <a:solidFill>
                  <a:srgbClr val="66524F"/>
                </a:solidFill>
                <a:latin typeface="Verdana"/>
                <a:cs typeface="Verdana"/>
              </a:rPr>
              <a:t>2310080023</a:t>
            </a:r>
            <a:r>
              <a:rPr lang="en-IN" sz="1800" spc="-1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lang="en-IN" sz="1800" spc="-100" dirty="0">
                <a:solidFill>
                  <a:srgbClr val="66524F"/>
                </a:solidFill>
                <a:latin typeface="Verdana"/>
                <a:cs typeface="Verdana"/>
              </a:rPr>
              <a:t>-</a:t>
            </a:r>
            <a:r>
              <a:rPr lang="en-IN" sz="1800" spc="-1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lang="en-IN" sz="1800" spc="5" dirty="0" err="1">
                <a:solidFill>
                  <a:srgbClr val="66524F"/>
                </a:solidFill>
                <a:latin typeface="Verdana"/>
                <a:cs typeface="Verdana"/>
              </a:rPr>
              <a:t>N.Gowtham</a:t>
            </a:r>
            <a:r>
              <a:rPr lang="en-IN" sz="1800" spc="2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lang="en-IN" sz="1800" spc="-65" dirty="0">
                <a:solidFill>
                  <a:srgbClr val="66524F"/>
                </a:solidFill>
                <a:latin typeface="Verdana"/>
                <a:cs typeface="Verdana"/>
              </a:rPr>
              <a:t>2310080029</a:t>
            </a:r>
            <a:r>
              <a:rPr lang="en-IN" sz="1800" spc="-1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lang="en-IN" sz="1800" spc="-100" dirty="0">
                <a:solidFill>
                  <a:srgbClr val="66524F"/>
                </a:solidFill>
                <a:latin typeface="Verdana"/>
                <a:cs typeface="Verdana"/>
              </a:rPr>
              <a:t>-</a:t>
            </a:r>
            <a:r>
              <a:rPr lang="en-IN" sz="1800" spc="-1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lang="en-IN" sz="1800" spc="10" dirty="0" err="1">
                <a:solidFill>
                  <a:srgbClr val="66524F"/>
                </a:solidFill>
                <a:latin typeface="Verdana"/>
                <a:cs typeface="Verdana"/>
              </a:rPr>
              <a:t>M.Snigdha</a:t>
            </a:r>
            <a:r>
              <a:rPr lang="en-IN" sz="1800" spc="-1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lang="en-IN" sz="1800" spc="-5" dirty="0">
                <a:solidFill>
                  <a:srgbClr val="66524F"/>
                </a:solidFill>
                <a:latin typeface="Verdana"/>
                <a:cs typeface="Verdana"/>
              </a:rPr>
              <a:t>Sharma</a:t>
            </a:r>
            <a:endParaRPr lang="en-IN" sz="1800" dirty="0">
              <a:latin typeface="Verdana"/>
              <a:cs typeface="Verdana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"/>
            <a:ext cx="11430000" cy="7781925"/>
          </a:xfrm>
          <a:custGeom>
            <a:avLst/>
            <a:gdLst/>
            <a:ahLst/>
            <a:cxnLst/>
            <a:rect l="l" t="t" r="r" b="b"/>
            <a:pathLst>
              <a:path w="11430000" h="7781925">
                <a:moveTo>
                  <a:pt x="11430000" y="0"/>
                </a:moveTo>
                <a:lnTo>
                  <a:pt x="0" y="0"/>
                </a:lnTo>
                <a:lnTo>
                  <a:pt x="0" y="7781925"/>
                </a:lnTo>
                <a:lnTo>
                  <a:pt x="11430000" y="77819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FF4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87375" y="455263"/>
            <a:ext cx="4449445" cy="3213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dirty="0">
                <a:solidFill>
                  <a:srgbClr val="522317"/>
                </a:solidFill>
                <a:latin typeface="Tahoma"/>
                <a:cs typeface="Tahoma"/>
              </a:rPr>
              <a:t>CHAPTER</a:t>
            </a:r>
            <a:r>
              <a:rPr sz="1950" spc="-35" dirty="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sz="1950" spc="-500" dirty="0">
                <a:solidFill>
                  <a:srgbClr val="522317"/>
                </a:solidFill>
                <a:latin typeface="Tahoma"/>
                <a:cs typeface="Tahoma"/>
              </a:rPr>
              <a:t>1</a:t>
            </a:r>
            <a:r>
              <a:rPr sz="1950" spc="-30" dirty="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sz="1950" spc="90" dirty="0">
                <a:solidFill>
                  <a:srgbClr val="522317"/>
                </a:solidFill>
                <a:latin typeface="Tahoma"/>
                <a:cs typeface="Tahoma"/>
              </a:rPr>
              <a:t>/</a:t>
            </a:r>
            <a:r>
              <a:rPr sz="1950" spc="-35" dirty="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522317"/>
                </a:solidFill>
                <a:latin typeface="Tahoma"/>
                <a:cs typeface="Tahoma"/>
              </a:rPr>
              <a:t>FOUNDATIONAL</a:t>
            </a:r>
            <a:r>
              <a:rPr sz="1950" spc="-30" dirty="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522317"/>
                </a:solidFill>
                <a:latin typeface="Tahoma"/>
                <a:cs typeface="Tahoma"/>
              </a:rPr>
              <a:t>CONCEPT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7375" y="837406"/>
            <a:ext cx="9081135" cy="617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Silent</a:t>
            </a:r>
            <a:r>
              <a:rPr spc="-215" dirty="0"/>
              <a:t> </a:t>
            </a:r>
            <a:r>
              <a:rPr spc="-45" dirty="0"/>
              <a:t>Security:</a:t>
            </a:r>
            <a:r>
              <a:rPr spc="-215" dirty="0"/>
              <a:t> </a:t>
            </a:r>
            <a:r>
              <a:rPr spc="140" dirty="0"/>
              <a:t>Why</a:t>
            </a:r>
            <a:r>
              <a:rPr spc="-210" dirty="0"/>
              <a:t> </a:t>
            </a:r>
            <a:r>
              <a:rPr dirty="0"/>
              <a:t>Blink</a:t>
            </a:r>
            <a:r>
              <a:rPr spc="-215" dirty="0"/>
              <a:t> </a:t>
            </a:r>
            <a:r>
              <a:rPr spc="40" dirty="0"/>
              <a:t>Authentication?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00075" y="1952625"/>
            <a:ext cx="5438775" cy="2447925"/>
            <a:chOff x="600075" y="1952625"/>
            <a:chExt cx="5438775" cy="2447925"/>
          </a:xfrm>
        </p:grpSpPr>
        <p:sp>
          <p:nvSpPr>
            <p:cNvPr id="6" name="object 6"/>
            <p:cNvSpPr/>
            <p:nvPr/>
          </p:nvSpPr>
          <p:spPr>
            <a:xfrm>
              <a:off x="609600" y="1962150"/>
              <a:ext cx="5419725" cy="2428875"/>
            </a:xfrm>
            <a:custGeom>
              <a:avLst/>
              <a:gdLst/>
              <a:ahLst/>
              <a:cxnLst/>
              <a:rect l="l" t="t" r="r" b="b"/>
              <a:pathLst>
                <a:path w="5419725" h="2428875">
                  <a:moveTo>
                    <a:pt x="5372557" y="0"/>
                  </a:moveTo>
                  <a:lnTo>
                    <a:pt x="47169" y="0"/>
                  </a:lnTo>
                  <a:lnTo>
                    <a:pt x="43884" y="330"/>
                  </a:lnTo>
                  <a:lnTo>
                    <a:pt x="10347" y="19672"/>
                  </a:lnTo>
                  <a:lnTo>
                    <a:pt x="0" y="47167"/>
                  </a:lnTo>
                  <a:lnTo>
                    <a:pt x="0" y="2378392"/>
                  </a:lnTo>
                  <a:lnTo>
                    <a:pt x="0" y="2381707"/>
                  </a:lnTo>
                  <a:lnTo>
                    <a:pt x="17129" y="2416429"/>
                  </a:lnTo>
                  <a:lnTo>
                    <a:pt x="47169" y="2428875"/>
                  </a:lnTo>
                  <a:lnTo>
                    <a:pt x="5372557" y="2428875"/>
                  </a:lnTo>
                  <a:lnTo>
                    <a:pt x="5407279" y="2411742"/>
                  </a:lnTo>
                  <a:lnTo>
                    <a:pt x="5419725" y="2381707"/>
                  </a:lnTo>
                  <a:lnTo>
                    <a:pt x="5419725" y="47167"/>
                  </a:lnTo>
                  <a:lnTo>
                    <a:pt x="5402592" y="12446"/>
                  </a:lnTo>
                  <a:lnTo>
                    <a:pt x="5375846" y="330"/>
                  </a:lnTo>
                  <a:lnTo>
                    <a:pt x="5372557" y="0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600" y="1962150"/>
              <a:ext cx="5419725" cy="2428875"/>
            </a:xfrm>
            <a:custGeom>
              <a:avLst/>
              <a:gdLst/>
              <a:ahLst/>
              <a:cxnLst/>
              <a:rect l="l" t="t" r="r" b="b"/>
              <a:pathLst>
                <a:path w="5419725" h="2428875">
                  <a:moveTo>
                    <a:pt x="0" y="237839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2" y="43878"/>
                  </a:lnTo>
                  <a:lnTo>
                    <a:pt x="972" y="40627"/>
                  </a:lnTo>
                  <a:lnTo>
                    <a:pt x="1616" y="37388"/>
                  </a:lnTo>
                  <a:lnTo>
                    <a:pt x="2574" y="34226"/>
                  </a:lnTo>
                  <a:lnTo>
                    <a:pt x="3844" y="31165"/>
                  </a:lnTo>
                  <a:lnTo>
                    <a:pt x="5109" y="28105"/>
                  </a:lnTo>
                  <a:lnTo>
                    <a:pt x="6667" y="25184"/>
                  </a:lnTo>
                  <a:lnTo>
                    <a:pt x="8507" y="22440"/>
                  </a:lnTo>
                  <a:lnTo>
                    <a:pt x="10347" y="19672"/>
                  </a:lnTo>
                  <a:lnTo>
                    <a:pt x="12442" y="17132"/>
                  </a:lnTo>
                  <a:lnTo>
                    <a:pt x="31164" y="3848"/>
                  </a:lnTo>
                  <a:lnTo>
                    <a:pt x="34225" y="2578"/>
                  </a:lnTo>
                  <a:lnTo>
                    <a:pt x="37381" y="1612"/>
                  </a:lnTo>
                  <a:lnTo>
                    <a:pt x="40634" y="965"/>
                  </a:lnTo>
                  <a:lnTo>
                    <a:pt x="43884" y="330"/>
                  </a:lnTo>
                  <a:lnTo>
                    <a:pt x="47169" y="0"/>
                  </a:lnTo>
                  <a:lnTo>
                    <a:pt x="50482" y="0"/>
                  </a:lnTo>
                  <a:lnTo>
                    <a:pt x="5369242" y="0"/>
                  </a:lnTo>
                  <a:lnTo>
                    <a:pt x="5372557" y="0"/>
                  </a:lnTo>
                  <a:lnTo>
                    <a:pt x="5375846" y="330"/>
                  </a:lnTo>
                  <a:lnTo>
                    <a:pt x="5379085" y="965"/>
                  </a:lnTo>
                  <a:lnTo>
                    <a:pt x="5382348" y="1612"/>
                  </a:lnTo>
                  <a:lnTo>
                    <a:pt x="5385498" y="2578"/>
                  </a:lnTo>
                  <a:lnTo>
                    <a:pt x="5388559" y="3848"/>
                  </a:lnTo>
                  <a:lnTo>
                    <a:pt x="5391619" y="5118"/>
                  </a:lnTo>
                  <a:lnTo>
                    <a:pt x="5394528" y="6667"/>
                  </a:lnTo>
                  <a:lnTo>
                    <a:pt x="5397284" y="8509"/>
                  </a:lnTo>
                  <a:lnTo>
                    <a:pt x="5400040" y="10350"/>
                  </a:lnTo>
                  <a:lnTo>
                    <a:pt x="5411216" y="22440"/>
                  </a:lnTo>
                  <a:lnTo>
                    <a:pt x="5413057" y="25184"/>
                  </a:lnTo>
                  <a:lnTo>
                    <a:pt x="5418747" y="40627"/>
                  </a:lnTo>
                  <a:lnTo>
                    <a:pt x="5419407" y="43878"/>
                  </a:lnTo>
                  <a:lnTo>
                    <a:pt x="5419725" y="47167"/>
                  </a:lnTo>
                  <a:lnTo>
                    <a:pt x="5419725" y="50482"/>
                  </a:lnTo>
                  <a:lnTo>
                    <a:pt x="5419725" y="2378392"/>
                  </a:lnTo>
                  <a:lnTo>
                    <a:pt x="5419725" y="2381707"/>
                  </a:lnTo>
                  <a:lnTo>
                    <a:pt x="5419407" y="2384983"/>
                  </a:lnTo>
                  <a:lnTo>
                    <a:pt x="5418747" y="2388247"/>
                  </a:lnTo>
                  <a:lnTo>
                    <a:pt x="5418112" y="2391486"/>
                  </a:lnTo>
                  <a:lnTo>
                    <a:pt x="5417146" y="2394648"/>
                  </a:lnTo>
                  <a:lnTo>
                    <a:pt x="5415876" y="2397709"/>
                  </a:lnTo>
                  <a:lnTo>
                    <a:pt x="5414606" y="2400769"/>
                  </a:lnTo>
                  <a:lnTo>
                    <a:pt x="5413057" y="2403678"/>
                  </a:lnTo>
                  <a:lnTo>
                    <a:pt x="5411216" y="2406434"/>
                  </a:lnTo>
                  <a:lnTo>
                    <a:pt x="5409374" y="2409190"/>
                  </a:lnTo>
                  <a:lnTo>
                    <a:pt x="5397284" y="2420366"/>
                  </a:lnTo>
                  <a:lnTo>
                    <a:pt x="5394528" y="2422207"/>
                  </a:lnTo>
                  <a:lnTo>
                    <a:pt x="5391619" y="2423756"/>
                  </a:lnTo>
                  <a:lnTo>
                    <a:pt x="5388559" y="2425026"/>
                  </a:lnTo>
                  <a:lnTo>
                    <a:pt x="5385498" y="2426296"/>
                  </a:lnTo>
                  <a:lnTo>
                    <a:pt x="5382348" y="2427249"/>
                  </a:lnTo>
                  <a:lnTo>
                    <a:pt x="5379085" y="2427909"/>
                  </a:lnTo>
                  <a:lnTo>
                    <a:pt x="5375846" y="2428544"/>
                  </a:lnTo>
                  <a:lnTo>
                    <a:pt x="5372557" y="2428875"/>
                  </a:lnTo>
                  <a:lnTo>
                    <a:pt x="5369242" y="2428875"/>
                  </a:lnTo>
                  <a:lnTo>
                    <a:pt x="50482" y="2428875"/>
                  </a:lnTo>
                  <a:lnTo>
                    <a:pt x="47169" y="2428875"/>
                  </a:lnTo>
                  <a:lnTo>
                    <a:pt x="43884" y="2428544"/>
                  </a:lnTo>
                  <a:lnTo>
                    <a:pt x="10347" y="2409190"/>
                  </a:lnTo>
                  <a:lnTo>
                    <a:pt x="8507" y="2406434"/>
                  </a:lnTo>
                  <a:lnTo>
                    <a:pt x="6667" y="2403678"/>
                  </a:lnTo>
                  <a:lnTo>
                    <a:pt x="5109" y="2400769"/>
                  </a:lnTo>
                  <a:lnTo>
                    <a:pt x="3844" y="2397709"/>
                  </a:lnTo>
                  <a:lnTo>
                    <a:pt x="2574" y="2394648"/>
                  </a:lnTo>
                  <a:lnTo>
                    <a:pt x="1616" y="2391486"/>
                  </a:lnTo>
                  <a:lnTo>
                    <a:pt x="972" y="2388247"/>
                  </a:lnTo>
                  <a:lnTo>
                    <a:pt x="322" y="2384983"/>
                  </a:lnTo>
                  <a:lnTo>
                    <a:pt x="0" y="2381707"/>
                  </a:lnTo>
                  <a:lnTo>
                    <a:pt x="0" y="2378392"/>
                  </a:lnTo>
                  <a:close/>
                </a:path>
              </a:pathLst>
            </a:custGeom>
            <a:ln w="19050">
              <a:solidFill>
                <a:srgbClr val="FF94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0575" y="21431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0"/>
                  </a:moveTo>
                  <a:lnTo>
                    <a:pt x="248751" y="0"/>
                  </a:lnTo>
                  <a:lnTo>
                    <a:pt x="240347" y="419"/>
                  </a:lnTo>
                  <a:lnTo>
                    <a:pt x="198739" y="6591"/>
                  </a:lnTo>
                  <a:lnTo>
                    <a:pt x="150976" y="22796"/>
                  </a:lnTo>
                  <a:lnTo>
                    <a:pt x="107294" y="48018"/>
                  </a:lnTo>
                  <a:lnTo>
                    <a:pt x="69368" y="81280"/>
                  </a:lnTo>
                  <a:lnTo>
                    <a:pt x="38660" y="121297"/>
                  </a:lnTo>
                  <a:lnTo>
                    <a:pt x="16351" y="166547"/>
                  </a:lnTo>
                  <a:lnTo>
                    <a:pt x="3299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83" y="315607"/>
                  </a:lnTo>
                  <a:lnTo>
                    <a:pt x="22800" y="363372"/>
                  </a:lnTo>
                  <a:lnTo>
                    <a:pt x="48022" y="407060"/>
                  </a:lnTo>
                  <a:lnTo>
                    <a:pt x="81280" y="444982"/>
                  </a:lnTo>
                  <a:lnTo>
                    <a:pt x="121300" y="475691"/>
                  </a:lnTo>
                  <a:lnTo>
                    <a:pt x="166538" y="497992"/>
                  </a:lnTo>
                  <a:lnTo>
                    <a:pt x="215265" y="511048"/>
                  </a:lnTo>
                  <a:lnTo>
                    <a:pt x="248751" y="514350"/>
                  </a:lnTo>
                  <a:lnTo>
                    <a:pt x="265598" y="514350"/>
                  </a:lnTo>
                  <a:lnTo>
                    <a:pt x="315610" y="507758"/>
                  </a:lnTo>
                  <a:lnTo>
                    <a:pt x="363373" y="491553"/>
                  </a:lnTo>
                  <a:lnTo>
                    <a:pt x="407055" y="466331"/>
                  </a:lnTo>
                  <a:lnTo>
                    <a:pt x="444981" y="433070"/>
                  </a:lnTo>
                  <a:lnTo>
                    <a:pt x="475689" y="393052"/>
                  </a:lnTo>
                  <a:lnTo>
                    <a:pt x="498005" y="347814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28" y="107289"/>
                  </a:lnTo>
                  <a:lnTo>
                    <a:pt x="433070" y="69367"/>
                  </a:lnTo>
                  <a:lnTo>
                    <a:pt x="393049" y="38658"/>
                  </a:lnTo>
                  <a:lnTo>
                    <a:pt x="347811" y="16357"/>
                  </a:lnTo>
                  <a:lnTo>
                    <a:pt x="299085" y="3302"/>
                  </a:lnTo>
                  <a:lnTo>
                    <a:pt x="274002" y="419"/>
                  </a:lnTo>
                  <a:lnTo>
                    <a:pt x="265598" y="0"/>
                  </a:lnTo>
                  <a:close/>
                </a:path>
              </a:pathLst>
            </a:custGeom>
            <a:solidFill>
              <a:srgbClr val="FF9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8335" y="2283857"/>
              <a:ext cx="241424" cy="235578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Motivation:</a:t>
            </a:r>
            <a:r>
              <a:rPr spc="65" dirty="0"/>
              <a:t> </a:t>
            </a:r>
            <a:r>
              <a:rPr dirty="0"/>
              <a:t>The</a:t>
            </a:r>
            <a:r>
              <a:rPr spc="65" dirty="0"/>
              <a:t> </a:t>
            </a:r>
            <a:r>
              <a:rPr spc="50" dirty="0"/>
              <a:t>Need</a:t>
            </a:r>
            <a:r>
              <a:rPr spc="65" dirty="0"/>
              <a:t> </a:t>
            </a:r>
            <a:r>
              <a:rPr dirty="0"/>
              <a:t>for</a:t>
            </a:r>
            <a:r>
              <a:rPr spc="65" dirty="0"/>
              <a:t> </a:t>
            </a:r>
            <a:r>
              <a:rPr dirty="0"/>
              <a:t>Covert</a:t>
            </a:r>
            <a:r>
              <a:rPr spc="65" dirty="0"/>
              <a:t> </a:t>
            </a:r>
            <a:r>
              <a:rPr spc="-10" dirty="0"/>
              <a:t>Access</a:t>
            </a:r>
          </a:p>
          <a:p>
            <a:pPr marL="12700" marR="5080">
              <a:lnSpc>
                <a:spcPct val="109600"/>
              </a:lnSpc>
              <a:spcBef>
                <a:spcPts val="1330"/>
              </a:spcBef>
            </a:pPr>
            <a:r>
              <a:rPr sz="1350" spc="-20" dirty="0">
                <a:latin typeface="Verdana"/>
                <a:cs typeface="Verdana"/>
              </a:rPr>
              <a:t>Traditional</a:t>
            </a:r>
            <a:r>
              <a:rPr sz="1350" spc="-25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input</a:t>
            </a:r>
            <a:r>
              <a:rPr sz="1350" spc="-20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methods</a:t>
            </a:r>
            <a:r>
              <a:rPr sz="1350" spc="-25" dirty="0">
                <a:latin typeface="Verdana"/>
                <a:cs typeface="Verdana"/>
              </a:rPr>
              <a:t> </a:t>
            </a:r>
            <a:r>
              <a:rPr sz="1350" spc="-30" dirty="0">
                <a:latin typeface="Verdana"/>
                <a:cs typeface="Verdana"/>
              </a:rPr>
              <a:t>are</a:t>
            </a:r>
            <a:r>
              <a:rPr sz="1350" spc="-20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often</a:t>
            </a:r>
            <a:r>
              <a:rPr sz="1350" spc="-20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cumbersome,</a:t>
            </a:r>
            <a:r>
              <a:rPr sz="1350" spc="-25" dirty="0">
                <a:latin typeface="Verdana"/>
                <a:cs typeface="Verdana"/>
              </a:rPr>
              <a:t> </a:t>
            </a:r>
            <a:r>
              <a:rPr sz="1350" spc="-55" dirty="0">
                <a:latin typeface="Verdana"/>
                <a:cs typeface="Verdana"/>
              </a:rPr>
              <a:t>noisy,</a:t>
            </a:r>
            <a:r>
              <a:rPr sz="1350" spc="-20" dirty="0">
                <a:latin typeface="Verdana"/>
                <a:cs typeface="Verdana"/>
              </a:rPr>
              <a:t> </a:t>
            </a:r>
            <a:r>
              <a:rPr sz="1350" spc="-25" dirty="0">
                <a:latin typeface="Verdana"/>
                <a:cs typeface="Verdana"/>
              </a:rPr>
              <a:t>or </a:t>
            </a:r>
            <a:r>
              <a:rPr sz="1350" dirty="0">
                <a:latin typeface="Verdana"/>
                <a:cs typeface="Verdana"/>
              </a:rPr>
              <a:t>require</a:t>
            </a:r>
            <a:r>
              <a:rPr sz="1350" spc="-60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physical</a:t>
            </a:r>
            <a:r>
              <a:rPr sz="1350" spc="-60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contact.</a:t>
            </a:r>
            <a:r>
              <a:rPr sz="1350" spc="-55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We</a:t>
            </a:r>
            <a:r>
              <a:rPr sz="1350" spc="-60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need</a:t>
            </a:r>
            <a:r>
              <a:rPr sz="1350" spc="-60" dirty="0">
                <a:latin typeface="Verdana"/>
                <a:cs typeface="Verdana"/>
              </a:rPr>
              <a:t> </a:t>
            </a:r>
            <a:r>
              <a:rPr sz="1350" spc="-25" dirty="0">
                <a:latin typeface="Verdana"/>
                <a:cs typeface="Verdana"/>
              </a:rPr>
              <a:t>a</a:t>
            </a:r>
            <a:r>
              <a:rPr sz="1350" spc="-55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solution</a:t>
            </a:r>
            <a:r>
              <a:rPr sz="1350" spc="-60" dirty="0">
                <a:latin typeface="Verdana"/>
                <a:cs typeface="Verdana"/>
              </a:rPr>
              <a:t> </a:t>
            </a:r>
            <a:r>
              <a:rPr sz="1350" spc="-25" dirty="0">
                <a:latin typeface="Verdana"/>
                <a:cs typeface="Verdana"/>
              </a:rPr>
              <a:t>for</a:t>
            </a:r>
            <a:r>
              <a:rPr sz="1350" spc="-55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secure, </a:t>
            </a:r>
            <a:r>
              <a:rPr sz="1350" spc="-35" dirty="0">
                <a:latin typeface="Verdana"/>
                <a:cs typeface="Verdana"/>
              </a:rPr>
              <a:t>silent,</a:t>
            </a:r>
            <a:r>
              <a:rPr sz="1350" spc="-40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and</a:t>
            </a:r>
            <a:r>
              <a:rPr sz="1350" spc="-35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entirely</a:t>
            </a:r>
            <a:r>
              <a:rPr sz="1350" spc="-25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hands-free</a:t>
            </a:r>
            <a:r>
              <a:rPr sz="1350" spc="-40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authentication</a:t>
            </a:r>
            <a:r>
              <a:rPr sz="1350" spc="-35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in</a:t>
            </a:r>
            <a:r>
              <a:rPr sz="1350" spc="-35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sensitive environments.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00075" y="4572000"/>
            <a:ext cx="5438775" cy="2543175"/>
            <a:chOff x="600075" y="4572000"/>
            <a:chExt cx="5438775" cy="2543175"/>
          </a:xfrm>
        </p:grpSpPr>
        <p:sp>
          <p:nvSpPr>
            <p:cNvPr id="12" name="object 12"/>
            <p:cNvSpPr/>
            <p:nvPr/>
          </p:nvSpPr>
          <p:spPr>
            <a:xfrm>
              <a:off x="609600" y="4581525"/>
              <a:ext cx="5419725" cy="2524125"/>
            </a:xfrm>
            <a:custGeom>
              <a:avLst/>
              <a:gdLst/>
              <a:ahLst/>
              <a:cxnLst/>
              <a:rect l="l" t="t" r="r" b="b"/>
              <a:pathLst>
                <a:path w="5419725" h="2524125">
                  <a:moveTo>
                    <a:pt x="5372557" y="0"/>
                  </a:moveTo>
                  <a:lnTo>
                    <a:pt x="47169" y="0"/>
                  </a:lnTo>
                  <a:lnTo>
                    <a:pt x="43884" y="330"/>
                  </a:lnTo>
                  <a:lnTo>
                    <a:pt x="10347" y="19672"/>
                  </a:lnTo>
                  <a:lnTo>
                    <a:pt x="0" y="47167"/>
                  </a:lnTo>
                  <a:lnTo>
                    <a:pt x="0" y="2473639"/>
                  </a:lnTo>
                  <a:lnTo>
                    <a:pt x="0" y="2476954"/>
                  </a:lnTo>
                  <a:lnTo>
                    <a:pt x="17129" y="2511681"/>
                  </a:lnTo>
                  <a:lnTo>
                    <a:pt x="47169" y="2524122"/>
                  </a:lnTo>
                  <a:lnTo>
                    <a:pt x="5372557" y="2524122"/>
                  </a:lnTo>
                  <a:lnTo>
                    <a:pt x="5407279" y="2506992"/>
                  </a:lnTo>
                  <a:lnTo>
                    <a:pt x="5419725" y="2476954"/>
                  </a:lnTo>
                  <a:lnTo>
                    <a:pt x="5419725" y="47167"/>
                  </a:lnTo>
                  <a:lnTo>
                    <a:pt x="5402592" y="12446"/>
                  </a:lnTo>
                  <a:lnTo>
                    <a:pt x="5375846" y="330"/>
                  </a:lnTo>
                  <a:lnTo>
                    <a:pt x="5372557" y="0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600" y="4581525"/>
              <a:ext cx="5419725" cy="2524125"/>
            </a:xfrm>
            <a:custGeom>
              <a:avLst/>
              <a:gdLst/>
              <a:ahLst/>
              <a:cxnLst/>
              <a:rect l="l" t="t" r="r" b="b"/>
              <a:pathLst>
                <a:path w="5419725" h="2524125">
                  <a:moveTo>
                    <a:pt x="0" y="2473639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2" y="43878"/>
                  </a:lnTo>
                  <a:lnTo>
                    <a:pt x="972" y="40627"/>
                  </a:lnTo>
                  <a:lnTo>
                    <a:pt x="1616" y="37388"/>
                  </a:lnTo>
                  <a:lnTo>
                    <a:pt x="2574" y="34226"/>
                  </a:lnTo>
                  <a:lnTo>
                    <a:pt x="3844" y="31165"/>
                  </a:lnTo>
                  <a:lnTo>
                    <a:pt x="5109" y="28105"/>
                  </a:lnTo>
                  <a:lnTo>
                    <a:pt x="6667" y="25184"/>
                  </a:lnTo>
                  <a:lnTo>
                    <a:pt x="8507" y="22440"/>
                  </a:lnTo>
                  <a:lnTo>
                    <a:pt x="10347" y="19672"/>
                  </a:lnTo>
                  <a:lnTo>
                    <a:pt x="12442" y="17132"/>
                  </a:lnTo>
                  <a:lnTo>
                    <a:pt x="31164" y="3848"/>
                  </a:lnTo>
                  <a:lnTo>
                    <a:pt x="34225" y="2578"/>
                  </a:lnTo>
                  <a:lnTo>
                    <a:pt x="37381" y="1612"/>
                  </a:lnTo>
                  <a:lnTo>
                    <a:pt x="40634" y="965"/>
                  </a:lnTo>
                  <a:lnTo>
                    <a:pt x="43884" y="330"/>
                  </a:lnTo>
                  <a:lnTo>
                    <a:pt x="47169" y="0"/>
                  </a:lnTo>
                  <a:lnTo>
                    <a:pt x="50482" y="0"/>
                  </a:lnTo>
                  <a:lnTo>
                    <a:pt x="5369242" y="0"/>
                  </a:lnTo>
                  <a:lnTo>
                    <a:pt x="5372557" y="0"/>
                  </a:lnTo>
                  <a:lnTo>
                    <a:pt x="5375846" y="330"/>
                  </a:lnTo>
                  <a:lnTo>
                    <a:pt x="5379085" y="965"/>
                  </a:lnTo>
                  <a:lnTo>
                    <a:pt x="5382348" y="1612"/>
                  </a:lnTo>
                  <a:lnTo>
                    <a:pt x="5385498" y="2578"/>
                  </a:lnTo>
                  <a:lnTo>
                    <a:pt x="5388559" y="3848"/>
                  </a:lnTo>
                  <a:lnTo>
                    <a:pt x="5391619" y="5118"/>
                  </a:lnTo>
                  <a:lnTo>
                    <a:pt x="5394528" y="6667"/>
                  </a:lnTo>
                  <a:lnTo>
                    <a:pt x="5397284" y="8509"/>
                  </a:lnTo>
                  <a:lnTo>
                    <a:pt x="5400040" y="10350"/>
                  </a:lnTo>
                  <a:lnTo>
                    <a:pt x="5411216" y="22440"/>
                  </a:lnTo>
                  <a:lnTo>
                    <a:pt x="5413057" y="25184"/>
                  </a:lnTo>
                  <a:lnTo>
                    <a:pt x="5418747" y="40627"/>
                  </a:lnTo>
                  <a:lnTo>
                    <a:pt x="5419407" y="43878"/>
                  </a:lnTo>
                  <a:lnTo>
                    <a:pt x="5419725" y="47167"/>
                  </a:lnTo>
                  <a:lnTo>
                    <a:pt x="5419725" y="50482"/>
                  </a:lnTo>
                  <a:lnTo>
                    <a:pt x="5419725" y="2473639"/>
                  </a:lnTo>
                  <a:lnTo>
                    <a:pt x="5419725" y="2476954"/>
                  </a:lnTo>
                  <a:lnTo>
                    <a:pt x="5419407" y="2480238"/>
                  </a:lnTo>
                  <a:lnTo>
                    <a:pt x="5418747" y="2483492"/>
                  </a:lnTo>
                  <a:lnTo>
                    <a:pt x="5418112" y="2486742"/>
                  </a:lnTo>
                  <a:lnTo>
                    <a:pt x="5397284" y="2515614"/>
                  </a:lnTo>
                  <a:lnTo>
                    <a:pt x="5394528" y="2517454"/>
                  </a:lnTo>
                  <a:lnTo>
                    <a:pt x="5372557" y="2524122"/>
                  </a:lnTo>
                  <a:lnTo>
                    <a:pt x="5369242" y="2524122"/>
                  </a:lnTo>
                  <a:lnTo>
                    <a:pt x="50482" y="2524122"/>
                  </a:lnTo>
                  <a:lnTo>
                    <a:pt x="47169" y="2524122"/>
                  </a:lnTo>
                  <a:lnTo>
                    <a:pt x="43884" y="2523801"/>
                  </a:lnTo>
                  <a:lnTo>
                    <a:pt x="10347" y="2504442"/>
                  </a:lnTo>
                  <a:lnTo>
                    <a:pt x="3844" y="2492957"/>
                  </a:lnTo>
                  <a:lnTo>
                    <a:pt x="2574" y="2489897"/>
                  </a:lnTo>
                  <a:lnTo>
                    <a:pt x="1616" y="2486742"/>
                  </a:lnTo>
                  <a:lnTo>
                    <a:pt x="972" y="2483492"/>
                  </a:lnTo>
                  <a:lnTo>
                    <a:pt x="322" y="2480238"/>
                  </a:lnTo>
                  <a:lnTo>
                    <a:pt x="0" y="2476954"/>
                  </a:lnTo>
                  <a:lnTo>
                    <a:pt x="0" y="2473639"/>
                  </a:lnTo>
                  <a:close/>
                </a:path>
              </a:pathLst>
            </a:custGeom>
            <a:ln w="19050">
              <a:solidFill>
                <a:srgbClr val="7D3E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90575" y="476250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0"/>
                  </a:moveTo>
                  <a:lnTo>
                    <a:pt x="248751" y="0"/>
                  </a:lnTo>
                  <a:lnTo>
                    <a:pt x="240347" y="419"/>
                  </a:lnTo>
                  <a:lnTo>
                    <a:pt x="198739" y="6591"/>
                  </a:lnTo>
                  <a:lnTo>
                    <a:pt x="150976" y="22796"/>
                  </a:lnTo>
                  <a:lnTo>
                    <a:pt x="107294" y="48018"/>
                  </a:lnTo>
                  <a:lnTo>
                    <a:pt x="69368" y="81280"/>
                  </a:lnTo>
                  <a:lnTo>
                    <a:pt x="38660" y="121297"/>
                  </a:lnTo>
                  <a:lnTo>
                    <a:pt x="16351" y="166547"/>
                  </a:lnTo>
                  <a:lnTo>
                    <a:pt x="3299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83" y="315607"/>
                  </a:lnTo>
                  <a:lnTo>
                    <a:pt x="22800" y="363372"/>
                  </a:lnTo>
                  <a:lnTo>
                    <a:pt x="48022" y="407060"/>
                  </a:lnTo>
                  <a:lnTo>
                    <a:pt x="81280" y="444982"/>
                  </a:lnTo>
                  <a:lnTo>
                    <a:pt x="121300" y="475691"/>
                  </a:lnTo>
                  <a:lnTo>
                    <a:pt x="166538" y="497992"/>
                  </a:lnTo>
                  <a:lnTo>
                    <a:pt x="215265" y="511048"/>
                  </a:lnTo>
                  <a:lnTo>
                    <a:pt x="248751" y="514350"/>
                  </a:lnTo>
                  <a:lnTo>
                    <a:pt x="265598" y="514350"/>
                  </a:lnTo>
                  <a:lnTo>
                    <a:pt x="315610" y="507758"/>
                  </a:lnTo>
                  <a:lnTo>
                    <a:pt x="363373" y="491553"/>
                  </a:lnTo>
                  <a:lnTo>
                    <a:pt x="407055" y="466331"/>
                  </a:lnTo>
                  <a:lnTo>
                    <a:pt x="444981" y="433070"/>
                  </a:lnTo>
                  <a:lnTo>
                    <a:pt x="475689" y="393052"/>
                  </a:lnTo>
                  <a:lnTo>
                    <a:pt x="498005" y="347814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28" y="107289"/>
                  </a:lnTo>
                  <a:lnTo>
                    <a:pt x="433070" y="69367"/>
                  </a:lnTo>
                  <a:lnTo>
                    <a:pt x="393049" y="38658"/>
                  </a:lnTo>
                  <a:lnTo>
                    <a:pt x="347811" y="16357"/>
                  </a:lnTo>
                  <a:lnTo>
                    <a:pt x="299085" y="3302"/>
                  </a:lnTo>
                  <a:lnTo>
                    <a:pt x="274002" y="419"/>
                  </a:lnTo>
                  <a:lnTo>
                    <a:pt x="265598" y="0"/>
                  </a:lnTo>
                  <a:close/>
                </a:path>
              </a:pathLst>
            </a:custGeom>
            <a:solidFill>
              <a:srgbClr val="7D3E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8406" y="4900232"/>
              <a:ext cx="241513" cy="24170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77875" y="5399157"/>
            <a:ext cx="4742180" cy="1515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4310">
              <a:lnSpc>
                <a:spcPct val="109000"/>
              </a:lnSpc>
              <a:spcBef>
                <a:spcPts val="100"/>
              </a:spcBef>
            </a:pPr>
            <a:r>
              <a:rPr sz="1950" dirty="0">
                <a:solidFill>
                  <a:srgbClr val="66524F"/>
                </a:solidFill>
                <a:latin typeface="Tahoma"/>
                <a:cs typeface="Tahoma"/>
              </a:rPr>
              <a:t>The</a:t>
            </a:r>
            <a:r>
              <a:rPr sz="1950" spc="-65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950" spc="60" dirty="0">
                <a:solidFill>
                  <a:srgbClr val="66524F"/>
                </a:solidFill>
                <a:latin typeface="Tahoma"/>
                <a:cs typeface="Tahoma"/>
              </a:rPr>
              <a:t>Core</a:t>
            </a:r>
            <a:r>
              <a:rPr sz="1950" spc="-60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950" spc="-25" dirty="0">
                <a:solidFill>
                  <a:srgbClr val="66524F"/>
                </a:solidFill>
                <a:latin typeface="Tahoma"/>
                <a:cs typeface="Tahoma"/>
              </a:rPr>
              <a:t>Principle:</a:t>
            </a:r>
            <a:r>
              <a:rPr sz="1950" spc="-60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950" spc="70" dirty="0">
                <a:solidFill>
                  <a:srgbClr val="66524F"/>
                </a:solidFill>
                <a:latin typeface="Tahoma"/>
                <a:cs typeface="Tahoma"/>
              </a:rPr>
              <a:t>Morse</a:t>
            </a:r>
            <a:r>
              <a:rPr sz="1950" spc="-65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950" spc="70" dirty="0">
                <a:solidFill>
                  <a:srgbClr val="66524F"/>
                </a:solidFill>
                <a:latin typeface="Tahoma"/>
                <a:cs typeface="Tahoma"/>
              </a:rPr>
              <a:t>Code</a:t>
            </a:r>
            <a:r>
              <a:rPr sz="1950" spc="-60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950" spc="-130" dirty="0">
                <a:solidFill>
                  <a:srgbClr val="66524F"/>
                </a:solidFill>
                <a:latin typeface="Tahoma"/>
                <a:cs typeface="Tahoma"/>
              </a:rPr>
              <a:t>as</a:t>
            </a:r>
            <a:r>
              <a:rPr sz="1950" spc="-60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66524F"/>
                </a:solidFill>
                <a:latin typeface="Tahoma"/>
                <a:cs typeface="Tahoma"/>
              </a:rPr>
              <a:t>Binary Input</a:t>
            </a:r>
            <a:endParaRPr sz="1950">
              <a:latin typeface="Tahoma"/>
              <a:cs typeface="Tahoma"/>
            </a:endParaRPr>
          </a:p>
          <a:p>
            <a:pPr marL="12700" marR="5080">
              <a:lnSpc>
                <a:spcPct val="108800"/>
              </a:lnSpc>
              <a:spcBef>
                <a:spcPts val="1340"/>
              </a:spcBef>
            </a:pP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The</a:t>
            </a:r>
            <a:r>
              <a:rPr sz="1350" spc="-7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24F"/>
                </a:solidFill>
                <a:latin typeface="Verdana"/>
                <a:cs typeface="Verdana"/>
              </a:rPr>
              <a:t>system</a:t>
            </a:r>
            <a:r>
              <a:rPr sz="1350" spc="-7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66524F"/>
                </a:solidFill>
                <a:latin typeface="Verdana"/>
                <a:cs typeface="Verdana"/>
              </a:rPr>
              <a:t>is</a:t>
            </a:r>
            <a:r>
              <a:rPr sz="1350" spc="-7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inspired</a:t>
            </a:r>
            <a:r>
              <a:rPr sz="1350" spc="-7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24F"/>
                </a:solidFill>
                <a:latin typeface="Verdana"/>
                <a:cs typeface="Verdana"/>
              </a:rPr>
              <a:t>by</a:t>
            </a:r>
            <a:r>
              <a:rPr sz="1350" spc="-6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Morse</a:t>
            </a:r>
            <a:r>
              <a:rPr sz="1350" spc="-7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66524F"/>
                </a:solidFill>
                <a:latin typeface="Verdana"/>
                <a:cs typeface="Verdana"/>
              </a:rPr>
              <a:t>Code9s</a:t>
            </a:r>
            <a:r>
              <a:rPr sz="1350" spc="-7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use</a:t>
            </a:r>
            <a:r>
              <a:rPr sz="1350" spc="-7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of</a:t>
            </a:r>
            <a:r>
              <a:rPr sz="1350" spc="-7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timing</a:t>
            </a:r>
            <a:r>
              <a:rPr sz="1350" spc="-7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24F"/>
                </a:solidFill>
                <a:latin typeface="Verdana"/>
                <a:cs typeface="Verdana"/>
              </a:rPr>
              <a:t>to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encode</a:t>
            </a:r>
            <a:r>
              <a:rPr sz="1350" spc="1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information.</a:t>
            </a:r>
            <a:r>
              <a:rPr sz="1350" spc="1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Blinks</a:t>
            </a:r>
            <a:r>
              <a:rPr sz="1350" spc="1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become</a:t>
            </a:r>
            <a:r>
              <a:rPr sz="1350" spc="1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the</a:t>
            </a:r>
            <a:r>
              <a:rPr sz="1350" spc="1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input</a:t>
            </a:r>
            <a:r>
              <a:rPr sz="1350" spc="1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signal,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where</a:t>
            </a:r>
            <a:r>
              <a:rPr sz="1350" spc="-4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the</a:t>
            </a:r>
            <a:r>
              <a:rPr sz="1350" spc="-4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duration</a:t>
            </a:r>
            <a:r>
              <a:rPr sz="1350" spc="-4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determines</a:t>
            </a:r>
            <a:r>
              <a:rPr sz="1350" spc="-4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the</a:t>
            </a:r>
            <a:r>
              <a:rPr sz="1350" spc="-4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binary</a:t>
            </a:r>
            <a:r>
              <a:rPr sz="1350" spc="-3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value.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53289" y="1910874"/>
            <a:ext cx="3493770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-20" dirty="0">
                <a:solidFill>
                  <a:srgbClr val="522317"/>
                </a:solidFill>
                <a:latin typeface="Tahoma"/>
                <a:cs typeface="Tahoma"/>
              </a:rPr>
              <a:t>Translating</a:t>
            </a:r>
            <a:r>
              <a:rPr sz="2300" spc="-90" dirty="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sz="2300" spc="-50" dirty="0">
                <a:solidFill>
                  <a:srgbClr val="522317"/>
                </a:solidFill>
                <a:latin typeface="Tahoma"/>
                <a:cs typeface="Tahoma"/>
              </a:rPr>
              <a:t>Blinks</a:t>
            </a:r>
            <a:r>
              <a:rPr sz="2300" spc="-85" dirty="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sz="2300" spc="110" dirty="0">
                <a:solidFill>
                  <a:srgbClr val="522317"/>
                </a:solidFill>
                <a:latin typeface="Tahoma"/>
                <a:cs typeface="Tahoma"/>
              </a:rPr>
              <a:t>to</a:t>
            </a:r>
            <a:r>
              <a:rPr sz="2300" spc="-85" dirty="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sz="2300" spc="-10" dirty="0">
                <a:solidFill>
                  <a:srgbClr val="522317"/>
                </a:solidFill>
                <a:latin typeface="Tahoma"/>
                <a:cs typeface="Tahoma"/>
              </a:rPr>
              <a:t>Binary</a:t>
            </a:r>
            <a:endParaRPr sz="23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467475" y="2505075"/>
            <a:ext cx="4371975" cy="914400"/>
            <a:chOff x="6467475" y="2505075"/>
            <a:chExt cx="4371975" cy="914400"/>
          </a:xfrm>
        </p:grpSpPr>
        <p:sp>
          <p:nvSpPr>
            <p:cNvPr id="19" name="object 19"/>
            <p:cNvSpPr/>
            <p:nvPr/>
          </p:nvSpPr>
          <p:spPr>
            <a:xfrm>
              <a:off x="6472237" y="2509837"/>
              <a:ext cx="4362450" cy="904875"/>
            </a:xfrm>
            <a:custGeom>
              <a:avLst/>
              <a:gdLst/>
              <a:ahLst/>
              <a:cxnLst/>
              <a:rect l="l" t="t" r="r" b="b"/>
              <a:pathLst>
                <a:path w="4362450" h="904875">
                  <a:moveTo>
                    <a:pt x="0" y="8496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54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4307205" y="0"/>
                  </a:lnTo>
                  <a:lnTo>
                    <a:pt x="4310837" y="0"/>
                  </a:lnTo>
                  <a:lnTo>
                    <a:pt x="4314418" y="355"/>
                  </a:lnTo>
                  <a:lnTo>
                    <a:pt x="4317974" y="1054"/>
                  </a:lnTo>
                  <a:lnTo>
                    <a:pt x="4321543" y="1765"/>
                  </a:lnTo>
                  <a:lnTo>
                    <a:pt x="4324997" y="2819"/>
                  </a:lnTo>
                  <a:lnTo>
                    <a:pt x="4328337" y="4203"/>
                  </a:lnTo>
                  <a:lnTo>
                    <a:pt x="4331703" y="5588"/>
                  </a:lnTo>
                  <a:lnTo>
                    <a:pt x="4334878" y="7289"/>
                  </a:lnTo>
                  <a:lnTo>
                    <a:pt x="4337888" y="9309"/>
                  </a:lnTo>
                  <a:lnTo>
                    <a:pt x="4340910" y="11328"/>
                  </a:lnTo>
                  <a:lnTo>
                    <a:pt x="4343704" y="13614"/>
                  </a:lnTo>
                  <a:lnTo>
                    <a:pt x="4346270" y="16179"/>
                  </a:lnTo>
                  <a:lnTo>
                    <a:pt x="4348835" y="18745"/>
                  </a:lnTo>
                  <a:lnTo>
                    <a:pt x="4361383" y="44462"/>
                  </a:lnTo>
                  <a:lnTo>
                    <a:pt x="4362094" y="48018"/>
                  </a:lnTo>
                  <a:lnTo>
                    <a:pt x="4362450" y="51612"/>
                  </a:lnTo>
                  <a:lnTo>
                    <a:pt x="4362450" y="55245"/>
                  </a:lnTo>
                  <a:lnTo>
                    <a:pt x="4362450" y="849630"/>
                  </a:lnTo>
                  <a:lnTo>
                    <a:pt x="4362450" y="853262"/>
                  </a:lnTo>
                  <a:lnTo>
                    <a:pt x="4362094" y="856856"/>
                  </a:lnTo>
                  <a:lnTo>
                    <a:pt x="4361383" y="860412"/>
                  </a:lnTo>
                  <a:lnTo>
                    <a:pt x="4360684" y="863968"/>
                  </a:lnTo>
                  <a:lnTo>
                    <a:pt x="4346270" y="888695"/>
                  </a:lnTo>
                  <a:lnTo>
                    <a:pt x="4343704" y="891260"/>
                  </a:lnTo>
                  <a:lnTo>
                    <a:pt x="4328337" y="900671"/>
                  </a:lnTo>
                  <a:lnTo>
                    <a:pt x="4324997" y="902055"/>
                  </a:lnTo>
                  <a:lnTo>
                    <a:pt x="4321543" y="903109"/>
                  </a:lnTo>
                  <a:lnTo>
                    <a:pt x="4317974" y="903808"/>
                  </a:lnTo>
                  <a:lnTo>
                    <a:pt x="4314418" y="904519"/>
                  </a:lnTo>
                  <a:lnTo>
                    <a:pt x="4310837" y="904875"/>
                  </a:lnTo>
                  <a:lnTo>
                    <a:pt x="4307205" y="904875"/>
                  </a:lnTo>
                  <a:lnTo>
                    <a:pt x="55245" y="904875"/>
                  </a:lnTo>
                  <a:lnTo>
                    <a:pt x="51612" y="904875"/>
                  </a:lnTo>
                  <a:lnTo>
                    <a:pt x="48018" y="904519"/>
                  </a:lnTo>
                  <a:lnTo>
                    <a:pt x="44462" y="903808"/>
                  </a:lnTo>
                  <a:lnTo>
                    <a:pt x="40906" y="903109"/>
                  </a:lnTo>
                  <a:lnTo>
                    <a:pt x="37452" y="902055"/>
                  </a:lnTo>
                  <a:lnTo>
                    <a:pt x="34099" y="900671"/>
                  </a:lnTo>
                  <a:lnTo>
                    <a:pt x="30746" y="899287"/>
                  </a:lnTo>
                  <a:lnTo>
                    <a:pt x="4203" y="870775"/>
                  </a:lnTo>
                  <a:lnTo>
                    <a:pt x="1066" y="860412"/>
                  </a:lnTo>
                  <a:lnTo>
                    <a:pt x="355" y="856856"/>
                  </a:lnTo>
                  <a:lnTo>
                    <a:pt x="0" y="853262"/>
                  </a:lnTo>
                  <a:lnTo>
                    <a:pt x="0" y="84963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76987" y="2514612"/>
              <a:ext cx="4352925" cy="447675"/>
            </a:xfrm>
            <a:custGeom>
              <a:avLst/>
              <a:gdLst/>
              <a:ahLst/>
              <a:cxnLst/>
              <a:rect l="l" t="t" r="r" b="b"/>
              <a:pathLst>
                <a:path w="4352925" h="447675">
                  <a:moveTo>
                    <a:pt x="2171700" y="0"/>
                  </a:moveTo>
                  <a:lnTo>
                    <a:pt x="52044" y="0"/>
                  </a:lnTo>
                  <a:lnTo>
                    <a:pt x="44399" y="1524"/>
                  </a:lnTo>
                  <a:lnTo>
                    <a:pt x="11950" y="23202"/>
                  </a:lnTo>
                  <a:lnTo>
                    <a:pt x="0" y="52044"/>
                  </a:lnTo>
                  <a:lnTo>
                    <a:pt x="0" y="447675"/>
                  </a:lnTo>
                  <a:lnTo>
                    <a:pt x="2171700" y="447675"/>
                  </a:lnTo>
                  <a:lnTo>
                    <a:pt x="2171700" y="0"/>
                  </a:lnTo>
                  <a:close/>
                </a:path>
                <a:path w="4352925" h="447675">
                  <a:moveTo>
                    <a:pt x="4352925" y="52044"/>
                  </a:moveTo>
                  <a:lnTo>
                    <a:pt x="4329722" y="11950"/>
                  </a:lnTo>
                  <a:lnTo>
                    <a:pt x="4300880" y="0"/>
                  </a:lnTo>
                  <a:lnTo>
                    <a:pt x="2181225" y="0"/>
                  </a:lnTo>
                  <a:lnTo>
                    <a:pt x="2181225" y="447675"/>
                  </a:lnTo>
                  <a:lnTo>
                    <a:pt x="4352925" y="447675"/>
                  </a:lnTo>
                  <a:lnTo>
                    <a:pt x="4352925" y="52044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76987" y="2962287"/>
              <a:ext cx="4352925" cy="447675"/>
            </a:xfrm>
            <a:custGeom>
              <a:avLst/>
              <a:gdLst/>
              <a:ahLst/>
              <a:cxnLst/>
              <a:rect l="l" t="t" r="r" b="b"/>
              <a:pathLst>
                <a:path w="4352925" h="447675">
                  <a:moveTo>
                    <a:pt x="2171700" y="0"/>
                  </a:moveTo>
                  <a:lnTo>
                    <a:pt x="0" y="0"/>
                  </a:lnTo>
                  <a:lnTo>
                    <a:pt x="0" y="395617"/>
                  </a:lnTo>
                  <a:lnTo>
                    <a:pt x="23202" y="435724"/>
                  </a:lnTo>
                  <a:lnTo>
                    <a:pt x="52044" y="447675"/>
                  </a:lnTo>
                  <a:lnTo>
                    <a:pt x="2171700" y="447675"/>
                  </a:lnTo>
                  <a:lnTo>
                    <a:pt x="2171700" y="0"/>
                  </a:lnTo>
                  <a:close/>
                </a:path>
                <a:path w="4352925" h="447675">
                  <a:moveTo>
                    <a:pt x="4352925" y="0"/>
                  </a:moveTo>
                  <a:lnTo>
                    <a:pt x="2181225" y="0"/>
                  </a:lnTo>
                  <a:lnTo>
                    <a:pt x="2181225" y="447675"/>
                  </a:lnTo>
                  <a:lnTo>
                    <a:pt x="4300880" y="447675"/>
                  </a:lnTo>
                  <a:lnTo>
                    <a:pt x="4308526" y="446151"/>
                  </a:lnTo>
                  <a:lnTo>
                    <a:pt x="4340974" y="424472"/>
                  </a:lnTo>
                  <a:lnTo>
                    <a:pt x="4352925" y="395617"/>
                  </a:lnTo>
                  <a:lnTo>
                    <a:pt x="4352925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634416" y="2606675"/>
            <a:ext cx="161226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Quick</a:t>
            </a:r>
            <a:r>
              <a:rPr sz="1350" spc="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Blink</a:t>
            </a:r>
            <a:r>
              <a:rPr sz="1350" spc="1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20" dirty="0">
                <a:solidFill>
                  <a:srgbClr val="66524F"/>
                </a:solidFill>
                <a:latin typeface="Verdana"/>
                <a:cs typeface="Verdana"/>
              </a:rPr>
              <a:t>(&lt;0.4s)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816238" y="2606675"/>
            <a:ext cx="61849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50" dirty="0">
                <a:solidFill>
                  <a:srgbClr val="66524F"/>
                </a:solidFill>
                <a:latin typeface="Tahoma"/>
                <a:cs typeface="Tahoma"/>
              </a:rPr>
              <a:t>0</a:t>
            </a:r>
            <a:r>
              <a:rPr sz="1350" b="1" spc="-45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66524F"/>
                </a:solidFill>
                <a:latin typeface="Verdana"/>
                <a:cs typeface="Verdana"/>
              </a:rPr>
              <a:t>(Dot)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634413" y="3054350"/>
            <a:ext cx="155003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Long</a:t>
            </a:r>
            <a:r>
              <a:rPr sz="1350" spc="3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Blink</a:t>
            </a:r>
            <a:r>
              <a:rPr sz="1350" spc="3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66524F"/>
                </a:solidFill>
                <a:latin typeface="Verdana"/>
                <a:cs typeface="Verdana"/>
              </a:rPr>
              <a:t>(g0.4s)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816235" y="3054350"/>
            <a:ext cx="69278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340" dirty="0">
                <a:solidFill>
                  <a:srgbClr val="66524F"/>
                </a:solidFill>
                <a:latin typeface="Tahoma"/>
                <a:cs typeface="Tahoma"/>
              </a:rPr>
              <a:t>1</a:t>
            </a:r>
            <a:r>
              <a:rPr sz="1350" b="1" spc="-45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66524F"/>
                </a:solidFill>
                <a:latin typeface="Verdana"/>
                <a:cs typeface="Verdana"/>
              </a:rPr>
              <a:t>(Dash)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467475" y="3609975"/>
            <a:ext cx="4371975" cy="1352550"/>
            <a:chOff x="6467475" y="3609975"/>
            <a:chExt cx="4371975" cy="1352550"/>
          </a:xfrm>
        </p:grpSpPr>
        <p:sp>
          <p:nvSpPr>
            <p:cNvPr id="27" name="object 27"/>
            <p:cNvSpPr/>
            <p:nvPr/>
          </p:nvSpPr>
          <p:spPr>
            <a:xfrm>
              <a:off x="6467475" y="3609975"/>
              <a:ext cx="4371975" cy="1352550"/>
            </a:xfrm>
            <a:custGeom>
              <a:avLst/>
              <a:gdLst/>
              <a:ahLst/>
              <a:cxnLst/>
              <a:rect l="l" t="t" r="r" b="b"/>
              <a:pathLst>
                <a:path w="4371975" h="1352550">
                  <a:moveTo>
                    <a:pt x="4315904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82" y="20358"/>
                  </a:lnTo>
                  <a:lnTo>
                    <a:pt x="0" y="56070"/>
                  </a:lnTo>
                  <a:lnTo>
                    <a:pt x="0" y="1292542"/>
                  </a:lnTo>
                  <a:lnTo>
                    <a:pt x="0" y="1296479"/>
                  </a:lnTo>
                  <a:lnTo>
                    <a:pt x="14782" y="1332191"/>
                  </a:lnTo>
                  <a:lnTo>
                    <a:pt x="52158" y="1352169"/>
                  </a:lnTo>
                  <a:lnTo>
                    <a:pt x="56070" y="1352550"/>
                  </a:lnTo>
                  <a:lnTo>
                    <a:pt x="4315904" y="1352550"/>
                  </a:lnTo>
                  <a:lnTo>
                    <a:pt x="4351604" y="1337754"/>
                  </a:lnTo>
                  <a:lnTo>
                    <a:pt x="4371594" y="1300378"/>
                  </a:lnTo>
                  <a:lnTo>
                    <a:pt x="4371975" y="1296479"/>
                  </a:lnTo>
                  <a:lnTo>
                    <a:pt x="4371975" y="56070"/>
                  </a:lnTo>
                  <a:lnTo>
                    <a:pt x="4357192" y="20358"/>
                  </a:lnTo>
                  <a:lnTo>
                    <a:pt x="4319816" y="381"/>
                  </a:lnTo>
                  <a:lnTo>
                    <a:pt x="4315904" y="0"/>
                  </a:lnTo>
                  <a:close/>
                </a:path>
              </a:pathLst>
            </a:custGeom>
            <a:solidFill>
              <a:srgbClr val="FFD1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71068" y="3849294"/>
              <a:ext cx="150025" cy="150012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7010501" y="3793490"/>
            <a:ext cx="3575685" cy="9112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75"/>
              </a:spcBef>
            </a:pPr>
            <a:r>
              <a:rPr sz="1350" spc="-20" dirty="0">
                <a:latin typeface="Verdana"/>
                <a:cs typeface="Verdana"/>
              </a:rPr>
              <a:t>This</a:t>
            </a:r>
            <a:r>
              <a:rPr sz="1350" spc="75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timing-based</a:t>
            </a:r>
            <a:r>
              <a:rPr sz="1350" spc="75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encoding</a:t>
            </a:r>
            <a:r>
              <a:rPr sz="1350" spc="80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offers </a:t>
            </a:r>
            <a:r>
              <a:rPr sz="1350" dirty="0">
                <a:latin typeface="Verdana"/>
                <a:cs typeface="Verdana"/>
              </a:rPr>
              <a:t>inherent</a:t>
            </a:r>
            <a:r>
              <a:rPr sz="1350" spc="-50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advantages</a:t>
            </a:r>
            <a:r>
              <a:rPr sz="1350" spc="-45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in</a:t>
            </a:r>
            <a:r>
              <a:rPr sz="1350" spc="-45" dirty="0">
                <a:latin typeface="Verdana"/>
                <a:cs typeface="Verdana"/>
              </a:rPr>
              <a:t> </a:t>
            </a:r>
            <a:r>
              <a:rPr sz="1350" spc="-25" dirty="0">
                <a:latin typeface="Verdana"/>
                <a:cs typeface="Verdana"/>
              </a:rPr>
              <a:t>privacy</a:t>
            </a:r>
            <a:r>
              <a:rPr sz="1350" spc="-45" dirty="0">
                <a:latin typeface="Verdana"/>
                <a:cs typeface="Verdana"/>
              </a:rPr>
              <a:t> </a:t>
            </a:r>
            <a:r>
              <a:rPr sz="1350" spc="-25" dirty="0">
                <a:latin typeface="Verdana"/>
                <a:cs typeface="Verdana"/>
              </a:rPr>
              <a:t>and </a:t>
            </a:r>
            <a:r>
              <a:rPr sz="1350" spc="-35" dirty="0">
                <a:latin typeface="Verdana"/>
                <a:cs typeface="Verdana"/>
              </a:rPr>
              <a:t>accessibility,</a:t>
            </a:r>
            <a:r>
              <a:rPr sz="1350" spc="5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enabling</a:t>
            </a:r>
            <a:r>
              <a:rPr sz="1350" spc="5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interaction</a:t>
            </a:r>
            <a:r>
              <a:rPr sz="1350" spc="5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without physical</a:t>
            </a:r>
            <a:r>
              <a:rPr sz="1350" spc="-85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devices</a:t>
            </a:r>
            <a:r>
              <a:rPr sz="1350" spc="-80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or</a:t>
            </a:r>
            <a:r>
              <a:rPr sz="1350" spc="-80" dirty="0">
                <a:latin typeface="Verdana"/>
                <a:cs typeface="Verdana"/>
              </a:rPr>
              <a:t> </a:t>
            </a:r>
            <a:r>
              <a:rPr sz="1350" spc="-30" dirty="0">
                <a:latin typeface="Verdana"/>
                <a:cs typeface="Verdana"/>
              </a:rPr>
              <a:t>overt</a:t>
            </a:r>
            <a:r>
              <a:rPr sz="1350" spc="-80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action.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763000"/>
          </a:xfrm>
          <a:custGeom>
            <a:avLst/>
            <a:gdLst/>
            <a:ahLst/>
            <a:cxnLst/>
            <a:rect l="l" t="t" r="r" b="b"/>
            <a:pathLst>
              <a:path w="11430000" h="8763000">
                <a:moveTo>
                  <a:pt x="11430000" y="0"/>
                </a:moveTo>
                <a:lnTo>
                  <a:pt x="0" y="0"/>
                </a:lnTo>
                <a:lnTo>
                  <a:pt x="0" y="8763000"/>
                </a:lnTo>
                <a:lnTo>
                  <a:pt x="11430000" y="87630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FF4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87375" y="455263"/>
            <a:ext cx="3956685" cy="3213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dirty="0">
                <a:solidFill>
                  <a:srgbClr val="522317"/>
                </a:solidFill>
                <a:latin typeface="Tahoma"/>
                <a:cs typeface="Tahoma"/>
              </a:rPr>
              <a:t>CHAPTER</a:t>
            </a:r>
            <a:r>
              <a:rPr sz="1950" spc="-30" dirty="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522317"/>
                </a:solidFill>
                <a:latin typeface="Tahoma"/>
                <a:cs typeface="Tahoma"/>
              </a:rPr>
              <a:t>2</a:t>
            </a:r>
            <a:r>
              <a:rPr sz="1950" spc="-25" dirty="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sz="1950" spc="90" dirty="0">
                <a:solidFill>
                  <a:srgbClr val="522317"/>
                </a:solidFill>
                <a:latin typeface="Tahoma"/>
                <a:cs typeface="Tahoma"/>
              </a:rPr>
              <a:t>/</a:t>
            </a:r>
            <a:r>
              <a:rPr sz="1950" spc="-25" dirty="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522317"/>
                </a:solidFill>
                <a:latin typeface="Tahoma"/>
                <a:cs typeface="Tahoma"/>
              </a:rPr>
              <a:t>MECHANICS</a:t>
            </a:r>
            <a:r>
              <a:rPr sz="1950" spc="-25" dirty="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sz="1950" spc="170" dirty="0">
                <a:solidFill>
                  <a:srgbClr val="522317"/>
                </a:solidFill>
                <a:latin typeface="Tahoma"/>
                <a:cs typeface="Tahoma"/>
              </a:rPr>
              <a:t>&amp;</a:t>
            </a:r>
            <a:r>
              <a:rPr sz="1950" spc="-30" dirty="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522317"/>
                </a:solidFill>
                <a:latin typeface="Tahoma"/>
                <a:cs typeface="Tahoma"/>
              </a:rPr>
              <a:t>STACK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7375" y="800258"/>
            <a:ext cx="10213975" cy="1301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8800"/>
              </a:lnSpc>
              <a:spcBef>
                <a:spcPts val="90"/>
              </a:spcBef>
            </a:pPr>
            <a:r>
              <a:rPr dirty="0"/>
              <a:t>Technical</a:t>
            </a:r>
            <a:r>
              <a:rPr spc="-120" dirty="0"/>
              <a:t> </a:t>
            </a:r>
            <a:r>
              <a:rPr spc="70" dirty="0"/>
              <a:t>Deep</a:t>
            </a:r>
            <a:r>
              <a:rPr spc="-120" dirty="0"/>
              <a:t> </a:t>
            </a:r>
            <a:r>
              <a:rPr spc="-70" dirty="0"/>
              <a:t>Dive:</a:t>
            </a:r>
            <a:r>
              <a:rPr spc="-120" dirty="0"/>
              <a:t> </a:t>
            </a:r>
            <a:r>
              <a:rPr dirty="0"/>
              <a:t>From</a:t>
            </a:r>
            <a:r>
              <a:rPr spc="-120" dirty="0"/>
              <a:t> </a:t>
            </a:r>
            <a:r>
              <a:rPr dirty="0"/>
              <a:t>Eyelid</a:t>
            </a:r>
            <a:r>
              <a:rPr spc="-120" dirty="0"/>
              <a:t> </a:t>
            </a:r>
            <a:r>
              <a:rPr spc="190" dirty="0"/>
              <a:t>to</a:t>
            </a:r>
            <a:r>
              <a:rPr spc="-120" dirty="0"/>
              <a:t> </a:t>
            </a:r>
            <a:r>
              <a:rPr spc="-10" dirty="0"/>
              <a:t>Encrypted </a:t>
            </a:r>
            <a:r>
              <a:rPr spc="-25" dirty="0"/>
              <a:t>PIN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849" y="2580008"/>
            <a:ext cx="9542429" cy="203662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787777" y="4963269"/>
            <a:ext cx="1445895" cy="721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60680" marR="5080" indent="-348615">
              <a:lnSpc>
                <a:spcPct val="111300"/>
              </a:lnSpc>
              <a:spcBef>
                <a:spcPts val="90"/>
              </a:spcBef>
            </a:pPr>
            <a:r>
              <a:rPr sz="2050" dirty="0">
                <a:solidFill>
                  <a:srgbClr val="66524F"/>
                </a:solidFill>
                <a:latin typeface="Tahoma"/>
                <a:cs typeface="Tahoma"/>
              </a:rPr>
              <a:t>Secure</a:t>
            </a:r>
            <a:r>
              <a:rPr sz="2050" spc="-60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2050" spc="-20" dirty="0">
                <a:solidFill>
                  <a:srgbClr val="66524F"/>
                </a:solidFill>
                <a:latin typeface="Tahoma"/>
                <a:cs typeface="Tahoma"/>
              </a:rPr>
              <a:t>Hash </a:t>
            </a:r>
            <a:r>
              <a:rPr sz="2050" spc="40" dirty="0">
                <a:solidFill>
                  <a:srgbClr val="66524F"/>
                </a:solidFill>
                <a:latin typeface="Tahoma"/>
                <a:cs typeface="Tahoma"/>
              </a:rPr>
              <a:t>Check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18552" y="4963269"/>
            <a:ext cx="1220470" cy="72136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370"/>
              </a:spcBef>
            </a:pPr>
            <a:r>
              <a:rPr sz="2050" dirty="0">
                <a:solidFill>
                  <a:srgbClr val="66524F"/>
                </a:solidFill>
                <a:latin typeface="Tahoma"/>
                <a:cs typeface="Tahoma"/>
              </a:rPr>
              <a:t>Blink</a:t>
            </a:r>
            <a:r>
              <a:rPr sz="2050" spc="-110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950" spc="1385" dirty="0">
                <a:solidFill>
                  <a:srgbClr val="66524F"/>
                </a:solidFill>
                <a:latin typeface="Times New Roman"/>
                <a:cs typeface="Times New Roman"/>
              </a:rPr>
              <a:t>³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050" dirty="0">
                <a:solidFill>
                  <a:srgbClr val="66524F"/>
                </a:solidFill>
                <a:latin typeface="Tahoma"/>
                <a:cs typeface="Tahoma"/>
              </a:rPr>
              <a:t>Binary</a:t>
            </a:r>
            <a:r>
              <a:rPr sz="2050" spc="-50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2050" spc="-25" dirty="0">
                <a:solidFill>
                  <a:srgbClr val="66524F"/>
                </a:solidFill>
                <a:latin typeface="Tahoma"/>
                <a:cs typeface="Tahoma"/>
              </a:rPr>
              <a:t>PIN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90997" y="4963269"/>
            <a:ext cx="1131570" cy="721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35280" marR="5080" indent="-323215">
              <a:lnSpc>
                <a:spcPct val="111300"/>
              </a:lnSpc>
              <a:spcBef>
                <a:spcPts val="90"/>
              </a:spcBef>
            </a:pPr>
            <a:r>
              <a:rPr sz="2050" spc="65" dirty="0">
                <a:solidFill>
                  <a:srgbClr val="66524F"/>
                </a:solidFill>
                <a:latin typeface="Tahoma"/>
                <a:cs typeface="Tahoma"/>
              </a:rPr>
              <a:t>Compute </a:t>
            </a:r>
            <a:r>
              <a:rPr sz="2050" spc="-25" dirty="0">
                <a:solidFill>
                  <a:srgbClr val="66524F"/>
                </a:solidFill>
                <a:latin typeface="Tahoma"/>
                <a:cs typeface="Tahoma"/>
              </a:rPr>
              <a:t>EAR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89755" y="4963269"/>
            <a:ext cx="1189990" cy="721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5715">
              <a:lnSpc>
                <a:spcPct val="111300"/>
              </a:lnSpc>
              <a:spcBef>
                <a:spcPts val="90"/>
              </a:spcBef>
            </a:pPr>
            <a:r>
              <a:rPr sz="2050" spc="-10" dirty="0">
                <a:solidFill>
                  <a:srgbClr val="66524F"/>
                </a:solidFill>
                <a:latin typeface="Tahoma"/>
                <a:cs typeface="Tahoma"/>
              </a:rPr>
              <a:t>Landmark </a:t>
            </a:r>
            <a:r>
              <a:rPr sz="2050" spc="45" dirty="0">
                <a:solidFill>
                  <a:srgbClr val="66524F"/>
                </a:solidFill>
                <a:latin typeface="Tahoma"/>
                <a:cs typeface="Tahoma"/>
              </a:rPr>
              <a:t>Detection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82338" y="4963269"/>
            <a:ext cx="979169" cy="721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33985">
              <a:lnSpc>
                <a:spcPct val="111300"/>
              </a:lnSpc>
              <a:spcBef>
                <a:spcPts val="90"/>
              </a:spcBef>
            </a:pPr>
            <a:r>
              <a:rPr sz="2050" spc="55" dirty="0">
                <a:solidFill>
                  <a:srgbClr val="66524F"/>
                </a:solidFill>
                <a:latin typeface="Tahoma"/>
                <a:cs typeface="Tahoma"/>
              </a:rPr>
              <a:t>Video </a:t>
            </a:r>
            <a:r>
              <a:rPr sz="2050" spc="45" dirty="0">
                <a:solidFill>
                  <a:srgbClr val="66524F"/>
                </a:solidFill>
                <a:latin typeface="Tahoma"/>
                <a:cs typeface="Tahoma"/>
              </a:rPr>
              <a:t>Capture</a:t>
            </a:r>
            <a:endParaRPr sz="205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81025" y="6315075"/>
            <a:ext cx="5048250" cy="1971675"/>
            <a:chOff x="581025" y="6315075"/>
            <a:chExt cx="5048250" cy="1971675"/>
          </a:xfrm>
        </p:grpSpPr>
        <p:sp>
          <p:nvSpPr>
            <p:cNvPr id="12" name="object 12"/>
            <p:cNvSpPr/>
            <p:nvPr/>
          </p:nvSpPr>
          <p:spPr>
            <a:xfrm>
              <a:off x="600075" y="6324600"/>
              <a:ext cx="5019675" cy="1952625"/>
            </a:xfrm>
            <a:custGeom>
              <a:avLst/>
              <a:gdLst/>
              <a:ahLst/>
              <a:cxnLst/>
              <a:rect l="l" t="t" r="r" b="b"/>
              <a:pathLst>
                <a:path w="5019675" h="1952625">
                  <a:moveTo>
                    <a:pt x="4972507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885950"/>
                  </a:lnTo>
                  <a:lnTo>
                    <a:pt x="0" y="1890325"/>
                  </a:lnTo>
                  <a:lnTo>
                    <a:pt x="15622" y="1926629"/>
                  </a:lnTo>
                  <a:lnTo>
                    <a:pt x="51663" y="1949221"/>
                  </a:lnTo>
                  <a:lnTo>
                    <a:pt x="71194" y="1952625"/>
                  </a:lnTo>
                  <a:lnTo>
                    <a:pt x="4972507" y="1952625"/>
                  </a:lnTo>
                  <a:lnTo>
                    <a:pt x="5007229" y="1935495"/>
                  </a:lnTo>
                  <a:lnTo>
                    <a:pt x="5019675" y="1905455"/>
                  </a:lnTo>
                  <a:lnTo>
                    <a:pt x="5019675" y="47167"/>
                  </a:lnTo>
                  <a:lnTo>
                    <a:pt x="5019357" y="43878"/>
                  </a:lnTo>
                  <a:lnTo>
                    <a:pt x="5018697" y="40640"/>
                  </a:lnTo>
                  <a:lnTo>
                    <a:pt x="5018062" y="37376"/>
                  </a:lnTo>
                  <a:lnTo>
                    <a:pt x="4994478" y="6667"/>
                  </a:lnTo>
                  <a:lnTo>
                    <a:pt x="4975796" y="317"/>
                  </a:lnTo>
                  <a:lnTo>
                    <a:pt x="4972507" y="0"/>
                  </a:lnTo>
                  <a:close/>
                </a:path>
              </a:pathLst>
            </a:custGeom>
            <a:solidFill>
              <a:srgbClr val="FFFFF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0913" y="6315087"/>
              <a:ext cx="5028565" cy="1971675"/>
            </a:xfrm>
            <a:custGeom>
              <a:avLst/>
              <a:gdLst/>
              <a:ahLst/>
              <a:cxnLst/>
              <a:rect l="l" t="t" r="r" b="b"/>
              <a:pathLst>
                <a:path w="5028565" h="1971675">
                  <a:moveTo>
                    <a:pt x="5028311" y="51828"/>
                  </a:moveTo>
                  <a:lnTo>
                    <a:pt x="5026825" y="44399"/>
                  </a:lnTo>
                  <a:lnTo>
                    <a:pt x="5020729" y="29692"/>
                  </a:lnTo>
                  <a:lnTo>
                    <a:pt x="5016398" y="23202"/>
                  </a:lnTo>
                  <a:lnTo>
                    <a:pt x="5011242" y="18059"/>
                  </a:lnTo>
                  <a:lnTo>
                    <a:pt x="5010772" y="17576"/>
                  </a:lnTo>
                  <a:lnTo>
                    <a:pt x="5005146" y="11950"/>
                  </a:lnTo>
                  <a:lnTo>
                    <a:pt x="4998656" y="7607"/>
                  </a:lnTo>
                  <a:lnTo>
                    <a:pt x="4984077" y="1562"/>
                  </a:lnTo>
                  <a:lnTo>
                    <a:pt x="4984204" y="1562"/>
                  </a:lnTo>
                  <a:lnTo>
                    <a:pt x="497630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968341" y="19050"/>
                  </a:lnTo>
                  <a:lnTo>
                    <a:pt x="5002555" y="37350"/>
                  </a:lnTo>
                  <a:lnTo>
                    <a:pt x="5009299" y="60007"/>
                  </a:lnTo>
                  <a:lnTo>
                    <a:pt x="5009299" y="1911667"/>
                  </a:lnTo>
                  <a:lnTo>
                    <a:pt x="4990998" y="1945868"/>
                  </a:lnTo>
                  <a:lnTo>
                    <a:pt x="4968341" y="1952625"/>
                  </a:lnTo>
                  <a:lnTo>
                    <a:pt x="75349" y="1952625"/>
                  </a:lnTo>
                  <a:lnTo>
                    <a:pt x="33007" y="1942998"/>
                  </a:lnTo>
                  <a:lnTo>
                    <a:pt x="1092" y="1910334"/>
                  </a:lnTo>
                  <a:lnTo>
                    <a:pt x="0" y="1906219"/>
                  </a:lnTo>
                  <a:lnTo>
                    <a:pt x="609" y="1910334"/>
                  </a:lnTo>
                  <a:lnTo>
                    <a:pt x="2413" y="1917560"/>
                  </a:lnTo>
                  <a:lnTo>
                    <a:pt x="4851" y="1924342"/>
                  </a:lnTo>
                  <a:lnTo>
                    <a:pt x="4953" y="1924634"/>
                  </a:lnTo>
                  <a:lnTo>
                    <a:pt x="33007" y="1958835"/>
                  </a:lnTo>
                  <a:lnTo>
                    <a:pt x="75349" y="1971675"/>
                  </a:lnTo>
                  <a:lnTo>
                    <a:pt x="4976304" y="1971675"/>
                  </a:lnTo>
                  <a:lnTo>
                    <a:pt x="4983594" y="1970214"/>
                  </a:lnTo>
                  <a:lnTo>
                    <a:pt x="4983785" y="1970214"/>
                  </a:lnTo>
                  <a:lnTo>
                    <a:pt x="4998656" y="1964055"/>
                  </a:lnTo>
                  <a:lnTo>
                    <a:pt x="5005146" y="1959724"/>
                  </a:lnTo>
                  <a:lnTo>
                    <a:pt x="5010785" y="1954085"/>
                  </a:lnTo>
                  <a:lnTo>
                    <a:pt x="5011255" y="1953615"/>
                  </a:lnTo>
                  <a:lnTo>
                    <a:pt x="5016398" y="1948472"/>
                  </a:lnTo>
                  <a:lnTo>
                    <a:pt x="5020729" y="1941969"/>
                  </a:lnTo>
                  <a:lnTo>
                    <a:pt x="5026787" y="1927390"/>
                  </a:lnTo>
                  <a:lnTo>
                    <a:pt x="5028311" y="1919833"/>
                  </a:lnTo>
                  <a:lnTo>
                    <a:pt x="5028311" y="51828"/>
                  </a:lnTo>
                  <a:close/>
                </a:path>
              </a:pathLst>
            </a:custGeom>
            <a:solidFill>
              <a:srgbClr val="FFE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1025" y="6315075"/>
              <a:ext cx="76200" cy="1971675"/>
            </a:xfrm>
            <a:custGeom>
              <a:avLst/>
              <a:gdLst/>
              <a:ahLst/>
              <a:cxnLst/>
              <a:rect l="l" t="t" r="r" b="b"/>
              <a:pathLst>
                <a:path w="76200" h="1971675">
                  <a:moveTo>
                    <a:pt x="76200" y="0"/>
                  </a:moveTo>
                  <a:lnTo>
                    <a:pt x="56067" y="0"/>
                  </a:lnTo>
                  <a:lnTo>
                    <a:pt x="52163" y="381"/>
                  </a:lnTo>
                  <a:lnTo>
                    <a:pt x="14789" y="20358"/>
                  </a:lnTo>
                  <a:lnTo>
                    <a:pt x="0" y="56070"/>
                  </a:lnTo>
                  <a:lnTo>
                    <a:pt x="0" y="1911667"/>
                  </a:lnTo>
                  <a:lnTo>
                    <a:pt x="0" y="1915607"/>
                  </a:lnTo>
                  <a:lnTo>
                    <a:pt x="14789" y="1951310"/>
                  </a:lnTo>
                  <a:lnTo>
                    <a:pt x="52163" y="1971287"/>
                  </a:lnTo>
                  <a:lnTo>
                    <a:pt x="56067" y="1971675"/>
                  </a:lnTo>
                  <a:lnTo>
                    <a:pt x="76200" y="19716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9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85825" y="7010399"/>
              <a:ext cx="57150" cy="561975"/>
            </a:xfrm>
            <a:custGeom>
              <a:avLst/>
              <a:gdLst/>
              <a:ahLst/>
              <a:cxnLst/>
              <a:rect l="l" t="t" r="r" b="b"/>
              <a:pathLst>
                <a:path w="57150" h="561975">
                  <a:moveTo>
                    <a:pt x="57150" y="529615"/>
                  </a:moveTo>
                  <a:lnTo>
                    <a:pt x="32359" y="504825"/>
                  </a:lnTo>
                  <a:lnTo>
                    <a:pt x="24777" y="504825"/>
                  </a:lnTo>
                  <a:lnTo>
                    <a:pt x="0" y="529615"/>
                  </a:lnTo>
                  <a:lnTo>
                    <a:pt x="0" y="537197"/>
                  </a:lnTo>
                  <a:lnTo>
                    <a:pt x="24777" y="561975"/>
                  </a:lnTo>
                  <a:lnTo>
                    <a:pt x="32359" y="561975"/>
                  </a:lnTo>
                  <a:lnTo>
                    <a:pt x="57150" y="537197"/>
                  </a:lnTo>
                  <a:lnTo>
                    <a:pt x="57150" y="533400"/>
                  </a:lnTo>
                  <a:lnTo>
                    <a:pt x="57150" y="529615"/>
                  </a:lnTo>
                  <a:close/>
                </a:path>
                <a:path w="57150" h="561975">
                  <a:moveTo>
                    <a:pt x="57150" y="24790"/>
                  </a:moveTo>
                  <a:lnTo>
                    <a:pt x="32359" y="0"/>
                  </a:lnTo>
                  <a:lnTo>
                    <a:pt x="24777" y="0"/>
                  </a:lnTo>
                  <a:lnTo>
                    <a:pt x="0" y="24790"/>
                  </a:lnTo>
                  <a:lnTo>
                    <a:pt x="0" y="32359"/>
                  </a:lnTo>
                  <a:lnTo>
                    <a:pt x="24777" y="57150"/>
                  </a:lnTo>
                  <a:lnTo>
                    <a:pt x="32359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6652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35025" y="6484588"/>
            <a:ext cx="4462780" cy="1602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dirty="0">
                <a:solidFill>
                  <a:srgbClr val="66524F"/>
                </a:solidFill>
                <a:latin typeface="Tahoma"/>
                <a:cs typeface="Tahoma"/>
              </a:rPr>
              <a:t>Key</a:t>
            </a:r>
            <a:r>
              <a:rPr sz="1950" spc="-85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66524F"/>
                </a:solidFill>
                <a:latin typeface="Tahoma"/>
                <a:cs typeface="Tahoma"/>
              </a:rPr>
              <a:t>Technologies</a:t>
            </a:r>
            <a:r>
              <a:rPr sz="1950" spc="-80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950" spc="-20" dirty="0">
                <a:solidFill>
                  <a:srgbClr val="66524F"/>
                </a:solidFill>
                <a:latin typeface="Tahoma"/>
                <a:cs typeface="Tahoma"/>
              </a:rPr>
              <a:t>Used</a:t>
            </a:r>
            <a:endParaRPr sz="1950">
              <a:latin typeface="Tahoma"/>
              <a:cs typeface="Tahoma"/>
            </a:endParaRPr>
          </a:p>
          <a:p>
            <a:pPr marL="286385" marR="448309" algn="just">
              <a:lnSpc>
                <a:spcPct val="106500"/>
              </a:lnSpc>
              <a:spcBef>
                <a:spcPts val="855"/>
              </a:spcBef>
            </a:pPr>
            <a:r>
              <a:rPr sz="1350" b="1" dirty="0">
                <a:solidFill>
                  <a:srgbClr val="66524F"/>
                </a:solidFill>
                <a:latin typeface="Tahoma"/>
                <a:cs typeface="Tahoma"/>
              </a:rPr>
              <a:t>MediaPipe:</a:t>
            </a:r>
            <a:r>
              <a:rPr sz="1350" b="1" spc="100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Used</a:t>
            </a:r>
            <a:r>
              <a:rPr sz="1350" spc="2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66524F"/>
                </a:solidFill>
                <a:latin typeface="Verdana"/>
                <a:cs typeface="Verdana"/>
              </a:rPr>
              <a:t>for</a:t>
            </a:r>
            <a:r>
              <a:rPr sz="1350" spc="1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66524F"/>
                </a:solidFill>
                <a:latin typeface="Verdana"/>
                <a:cs typeface="Verdana"/>
              </a:rPr>
              <a:t>robust,</a:t>
            </a:r>
            <a:r>
              <a:rPr sz="1350" spc="2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66524F"/>
                </a:solidFill>
                <a:latin typeface="Verdana"/>
                <a:cs typeface="Verdana"/>
              </a:rPr>
              <a:t>real-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time</a:t>
            </a:r>
            <a:r>
              <a:rPr sz="1350" spc="2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facial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landmark</a:t>
            </a:r>
            <a:r>
              <a:rPr sz="1350" spc="-2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and</a:t>
            </a:r>
            <a:r>
              <a:rPr sz="1350" spc="-2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face</a:t>
            </a:r>
            <a:r>
              <a:rPr sz="1350" spc="-1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mesh</a:t>
            </a:r>
            <a:r>
              <a:rPr sz="1350" spc="-2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detection.</a:t>
            </a:r>
            <a:endParaRPr sz="1350">
              <a:latin typeface="Verdana"/>
              <a:cs typeface="Verdana"/>
            </a:endParaRPr>
          </a:p>
          <a:p>
            <a:pPr marL="286385" marR="5080" algn="just">
              <a:lnSpc>
                <a:spcPct val="108800"/>
              </a:lnSpc>
              <a:spcBef>
                <a:spcPts val="484"/>
              </a:spcBef>
            </a:pPr>
            <a:r>
              <a:rPr sz="1350" b="1" spc="70" dirty="0">
                <a:solidFill>
                  <a:srgbClr val="66524F"/>
                </a:solidFill>
                <a:latin typeface="Tahoma"/>
                <a:cs typeface="Tahoma"/>
              </a:rPr>
              <a:t>OpenCV</a:t>
            </a:r>
            <a:r>
              <a:rPr sz="1350" b="1" spc="65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350" b="1" dirty="0">
                <a:solidFill>
                  <a:srgbClr val="66524F"/>
                </a:solidFill>
                <a:latin typeface="Tahoma"/>
                <a:cs typeface="Tahoma"/>
              </a:rPr>
              <a:t>&amp;</a:t>
            </a:r>
            <a:r>
              <a:rPr sz="1350" b="1" spc="70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350" b="1" dirty="0">
                <a:solidFill>
                  <a:srgbClr val="66524F"/>
                </a:solidFill>
                <a:latin typeface="Tahoma"/>
                <a:cs typeface="Tahoma"/>
              </a:rPr>
              <a:t>NumPy:</a:t>
            </a:r>
            <a:r>
              <a:rPr sz="1350" b="1" spc="30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Handle</a:t>
            </a:r>
            <a:r>
              <a:rPr sz="1350" spc="-5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66524F"/>
                </a:solidFill>
                <a:latin typeface="Verdana"/>
                <a:cs typeface="Verdana"/>
              </a:rPr>
              <a:t>live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video</a:t>
            </a:r>
            <a:r>
              <a:rPr sz="1350" spc="-5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processing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and</a:t>
            </a:r>
            <a:r>
              <a:rPr sz="1350" spc="-1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mathematical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calculation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 of</a:t>
            </a:r>
            <a:r>
              <a:rPr sz="1350" spc="-1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the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66524F"/>
                </a:solidFill>
                <a:latin typeface="Verdana"/>
                <a:cs typeface="Verdana"/>
              </a:rPr>
              <a:t>Eye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 Aspect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Ratio</a:t>
            </a:r>
            <a:r>
              <a:rPr sz="1350" spc="-10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(EAR).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781675" y="6315075"/>
            <a:ext cx="5048250" cy="1971675"/>
            <a:chOff x="5781675" y="6315075"/>
            <a:chExt cx="5048250" cy="1971675"/>
          </a:xfrm>
        </p:grpSpPr>
        <p:sp>
          <p:nvSpPr>
            <p:cNvPr id="18" name="object 18"/>
            <p:cNvSpPr/>
            <p:nvPr/>
          </p:nvSpPr>
          <p:spPr>
            <a:xfrm>
              <a:off x="5800725" y="6324600"/>
              <a:ext cx="5019675" cy="1952625"/>
            </a:xfrm>
            <a:custGeom>
              <a:avLst/>
              <a:gdLst/>
              <a:ahLst/>
              <a:cxnLst/>
              <a:rect l="l" t="t" r="r" b="b"/>
              <a:pathLst>
                <a:path w="5019675" h="1952625">
                  <a:moveTo>
                    <a:pt x="4972507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885950"/>
                  </a:lnTo>
                  <a:lnTo>
                    <a:pt x="0" y="1890325"/>
                  </a:lnTo>
                  <a:lnTo>
                    <a:pt x="15621" y="1926629"/>
                  </a:lnTo>
                  <a:lnTo>
                    <a:pt x="51663" y="1949221"/>
                  </a:lnTo>
                  <a:lnTo>
                    <a:pt x="71196" y="1952625"/>
                  </a:lnTo>
                  <a:lnTo>
                    <a:pt x="4972507" y="1952625"/>
                  </a:lnTo>
                  <a:lnTo>
                    <a:pt x="5007229" y="1935495"/>
                  </a:lnTo>
                  <a:lnTo>
                    <a:pt x="5019675" y="1905455"/>
                  </a:lnTo>
                  <a:lnTo>
                    <a:pt x="5019675" y="47167"/>
                  </a:lnTo>
                  <a:lnTo>
                    <a:pt x="5019357" y="43878"/>
                  </a:lnTo>
                  <a:lnTo>
                    <a:pt x="5018697" y="40640"/>
                  </a:lnTo>
                  <a:lnTo>
                    <a:pt x="5018062" y="37376"/>
                  </a:lnTo>
                  <a:lnTo>
                    <a:pt x="4994478" y="6667"/>
                  </a:lnTo>
                  <a:lnTo>
                    <a:pt x="4975796" y="317"/>
                  </a:lnTo>
                  <a:lnTo>
                    <a:pt x="4972507" y="0"/>
                  </a:lnTo>
                  <a:close/>
                </a:path>
              </a:pathLst>
            </a:custGeom>
            <a:solidFill>
              <a:srgbClr val="FFFFF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01563" y="6315087"/>
              <a:ext cx="5028565" cy="1971675"/>
            </a:xfrm>
            <a:custGeom>
              <a:avLst/>
              <a:gdLst/>
              <a:ahLst/>
              <a:cxnLst/>
              <a:rect l="l" t="t" r="r" b="b"/>
              <a:pathLst>
                <a:path w="5028565" h="1971675">
                  <a:moveTo>
                    <a:pt x="5028311" y="51828"/>
                  </a:moveTo>
                  <a:lnTo>
                    <a:pt x="5026825" y="44399"/>
                  </a:lnTo>
                  <a:lnTo>
                    <a:pt x="5020729" y="29692"/>
                  </a:lnTo>
                  <a:lnTo>
                    <a:pt x="5016398" y="23202"/>
                  </a:lnTo>
                  <a:lnTo>
                    <a:pt x="5011242" y="18059"/>
                  </a:lnTo>
                  <a:lnTo>
                    <a:pt x="5010772" y="17576"/>
                  </a:lnTo>
                  <a:lnTo>
                    <a:pt x="5005146" y="11950"/>
                  </a:lnTo>
                  <a:lnTo>
                    <a:pt x="4998656" y="7607"/>
                  </a:lnTo>
                  <a:lnTo>
                    <a:pt x="4984077" y="1562"/>
                  </a:lnTo>
                  <a:lnTo>
                    <a:pt x="4984204" y="1562"/>
                  </a:lnTo>
                  <a:lnTo>
                    <a:pt x="497630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968341" y="19050"/>
                  </a:lnTo>
                  <a:lnTo>
                    <a:pt x="5002555" y="37350"/>
                  </a:lnTo>
                  <a:lnTo>
                    <a:pt x="5009299" y="60007"/>
                  </a:lnTo>
                  <a:lnTo>
                    <a:pt x="5009299" y="1911667"/>
                  </a:lnTo>
                  <a:lnTo>
                    <a:pt x="4990998" y="1945868"/>
                  </a:lnTo>
                  <a:lnTo>
                    <a:pt x="4968341" y="1952625"/>
                  </a:lnTo>
                  <a:lnTo>
                    <a:pt x="75349" y="1952625"/>
                  </a:lnTo>
                  <a:lnTo>
                    <a:pt x="33007" y="1942998"/>
                  </a:lnTo>
                  <a:lnTo>
                    <a:pt x="1079" y="1910334"/>
                  </a:lnTo>
                  <a:lnTo>
                    <a:pt x="0" y="1906231"/>
                  </a:lnTo>
                  <a:lnTo>
                    <a:pt x="609" y="1910334"/>
                  </a:lnTo>
                  <a:lnTo>
                    <a:pt x="2413" y="1917560"/>
                  </a:lnTo>
                  <a:lnTo>
                    <a:pt x="4851" y="1924342"/>
                  </a:lnTo>
                  <a:lnTo>
                    <a:pt x="4953" y="1924634"/>
                  </a:lnTo>
                  <a:lnTo>
                    <a:pt x="33007" y="1958835"/>
                  </a:lnTo>
                  <a:lnTo>
                    <a:pt x="75349" y="1971675"/>
                  </a:lnTo>
                  <a:lnTo>
                    <a:pt x="4976304" y="1971675"/>
                  </a:lnTo>
                  <a:lnTo>
                    <a:pt x="4983594" y="1970214"/>
                  </a:lnTo>
                  <a:lnTo>
                    <a:pt x="4983785" y="1970214"/>
                  </a:lnTo>
                  <a:lnTo>
                    <a:pt x="4998656" y="1964055"/>
                  </a:lnTo>
                  <a:lnTo>
                    <a:pt x="5005146" y="1959724"/>
                  </a:lnTo>
                  <a:lnTo>
                    <a:pt x="5010785" y="1954085"/>
                  </a:lnTo>
                  <a:lnTo>
                    <a:pt x="5011255" y="1953615"/>
                  </a:lnTo>
                  <a:lnTo>
                    <a:pt x="5016398" y="1948472"/>
                  </a:lnTo>
                  <a:lnTo>
                    <a:pt x="5020729" y="1941969"/>
                  </a:lnTo>
                  <a:lnTo>
                    <a:pt x="5026787" y="1927390"/>
                  </a:lnTo>
                  <a:lnTo>
                    <a:pt x="5028311" y="1919833"/>
                  </a:lnTo>
                  <a:lnTo>
                    <a:pt x="5028311" y="51828"/>
                  </a:lnTo>
                  <a:close/>
                </a:path>
              </a:pathLst>
            </a:custGeom>
            <a:solidFill>
              <a:srgbClr val="FFE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81675" y="6315075"/>
              <a:ext cx="76200" cy="1971675"/>
            </a:xfrm>
            <a:custGeom>
              <a:avLst/>
              <a:gdLst/>
              <a:ahLst/>
              <a:cxnLst/>
              <a:rect l="l" t="t" r="r" b="b"/>
              <a:pathLst>
                <a:path w="76200" h="1971675">
                  <a:moveTo>
                    <a:pt x="76200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82" y="20358"/>
                  </a:lnTo>
                  <a:lnTo>
                    <a:pt x="0" y="56070"/>
                  </a:lnTo>
                  <a:lnTo>
                    <a:pt x="0" y="1911667"/>
                  </a:lnTo>
                  <a:lnTo>
                    <a:pt x="0" y="1915607"/>
                  </a:lnTo>
                  <a:lnTo>
                    <a:pt x="14782" y="1951310"/>
                  </a:lnTo>
                  <a:lnTo>
                    <a:pt x="52158" y="1971287"/>
                  </a:lnTo>
                  <a:lnTo>
                    <a:pt x="56070" y="1971675"/>
                  </a:lnTo>
                  <a:lnTo>
                    <a:pt x="76200" y="19716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9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86475" y="7010399"/>
              <a:ext cx="57150" cy="561975"/>
            </a:xfrm>
            <a:custGeom>
              <a:avLst/>
              <a:gdLst/>
              <a:ahLst/>
              <a:cxnLst/>
              <a:rect l="l" t="t" r="r" b="b"/>
              <a:pathLst>
                <a:path w="57150" h="561975">
                  <a:moveTo>
                    <a:pt x="57150" y="529615"/>
                  </a:moveTo>
                  <a:lnTo>
                    <a:pt x="32346" y="504825"/>
                  </a:lnTo>
                  <a:lnTo>
                    <a:pt x="24790" y="504825"/>
                  </a:lnTo>
                  <a:lnTo>
                    <a:pt x="0" y="529615"/>
                  </a:lnTo>
                  <a:lnTo>
                    <a:pt x="0" y="537197"/>
                  </a:lnTo>
                  <a:lnTo>
                    <a:pt x="24790" y="561975"/>
                  </a:lnTo>
                  <a:lnTo>
                    <a:pt x="32346" y="561975"/>
                  </a:lnTo>
                  <a:lnTo>
                    <a:pt x="57150" y="537197"/>
                  </a:lnTo>
                  <a:lnTo>
                    <a:pt x="57150" y="533400"/>
                  </a:lnTo>
                  <a:lnTo>
                    <a:pt x="57150" y="529615"/>
                  </a:lnTo>
                  <a:close/>
                </a:path>
                <a:path w="57150" h="561975">
                  <a:moveTo>
                    <a:pt x="57150" y="24790"/>
                  </a:moveTo>
                  <a:lnTo>
                    <a:pt x="32346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32359"/>
                  </a:lnTo>
                  <a:lnTo>
                    <a:pt x="24790" y="57150"/>
                  </a:lnTo>
                  <a:lnTo>
                    <a:pt x="32346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6652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035675" y="6484588"/>
            <a:ext cx="4487545" cy="13735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spc="-10" dirty="0">
                <a:solidFill>
                  <a:srgbClr val="66524F"/>
                </a:solidFill>
                <a:latin typeface="Tahoma"/>
                <a:cs typeface="Tahoma"/>
              </a:rPr>
              <a:t>Security</a:t>
            </a:r>
            <a:r>
              <a:rPr sz="1950" spc="-85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66524F"/>
                </a:solidFill>
                <a:latin typeface="Tahoma"/>
                <a:cs typeface="Tahoma"/>
              </a:rPr>
              <a:t>Implementation</a:t>
            </a:r>
            <a:endParaRPr sz="1950">
              <a:latin typeface="Tahoma"/>
              <a:cs typeface="Tahoma"/>
            </a:endParaRPr>
          </a:p>
          <a:p>
            <a:pPr marL="286385" marR="5080">
              <a:lnSpc>
                <a:spcPct val="106500"/>
              </a:lnSpc>
              <a:spcBef>
                <a:spcPts val="855"/>
              </a:spcBef>
            </a:pP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The</a:t>
            </a:r>
            <a:r>
              <a:rPr sz="1350" spc="-5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captured</a:t>
            </a:r>
            <a:r>
              <a:rPr sz="1350" spc="-5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binary</a:t>
            </a:r>
            <a:r>
              <a:rPr sz="1350" spc="-4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PIN</a:t>
            </a:r>
            <a:r>
              <a:rPr sz="1350" spc="-5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66524F"/>
                </a:solidFill>
                <a:latin typeface="Verdana"/>
                <a:cs typeface="Verdana"/>
              </a:rPr>
              <a:t>is</a:t>
            </a:r>
            <a:r>
              <a:rPr sz="1350" spc="-5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converted</a:t>
            </a:r>
            <a:r>
              <a:rPr sz="1350" spc="-5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using</a:t>
            </a:r>
            <a:r>
              <a:rPr sz="1350" spc="-5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b="1" spc="-20" dirty="0">
                <a:solidFill>
                  <a:srgbClr val="66524F"/>
                </a:solidFill>
                <a:latin typeface="Tahoma"/>
                <a:cs typeface="Tahoma"/>
              </a:rPr>
              <a:t>SHA- </a:t>
            </a:r>
            <a:r>
              <a:rPr sz="1350" b="1" spc="-30" dirty="0">
                <a:solidFill>
                  <a:srgbClr val="66524F"/>
                </a:solidFill>
                <a:latin typeface="Tahoma"/>
                <a:cs typeface="Tahoma"/>
              </a:rPr>
              <a:t>256</a:t>
            </a:r>
            <a:r>
              <a:rPr sz="1350" b="1" spc="-55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66524F"/>
                </a:solidFill>
                <a:latin typeface="Tahoma"/>
                <a:cs typeface="Tahoma"/>
              </a:rPr>
              <a:t>Hashing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.</a:t>
            </a:r>
            <a:endParaRPr sz="1350">
              <a:latin typeface="Verdana"/>
              <a:cs typeface="Verdana"/>
            </a:endParaRPr>
          </a:p>
          <a:p>
            <a:pPr marL="286385" marR="49530">
              <a:lnSpc>
                <a:spcPct val="106500"/>
              </a:lnSpc>
              <a:spcBef>
                <a:spcPts val="525"/>
              </a:spcBef>
            </a:pPr>
            <a:r>
              <a:rPr sz="1350" spc="-20" dirty="0">
                <a:solidFill>
                  <a:srgbClr val="66524F"/>
                </a:solidFill>
                <a:latin typeface="Verdana"/>
                <a:cs typeface="Verdana"/>
              </a:rPr>
              <a:t>This</a:t>
            </a:r>
            <a:r>
              <a:rPr sz="1350" spc="-5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hash</a:t>
            </a:r>
            <a:r>
              <a:rPr sz="1350" spc="-5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66524F"/>
                </a:solidFill>
                <a:latin typeface="Verdana"/>
                <a:cs typeface="Verdana"/>
              </a:rPr>
              <a:t>is</a:t>
            </a:r>
            <a:r>
              <a:rPr sz="1350" spc="-5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compared</a:t>
            </a:r>
            <a:r>
              <a:rPr sz="1350" spc="-5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against</a:t>
            </a:r>
            <a:r>
              <a:rPr sz="1350" spc="-5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24F"/>
                </a:solidFill>
                <a:latin typeface="Verdana"/>
                <a:cs typeface="Verdana"/>
              </a:rPr>
              <a:t>a</a:t>
            </a:r>
            <a:r>
              <a:rPr sz="1350" spc="-5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pre-</a:t>
            </a:r>
            <a:r>
              <a:rPr sz="1350" spc="-20" dirty="0">
                <a:solidFill>
                  <a:srgbClr val="66524F"/>
                </a:solidFill>
                <a:latin typeface="Verdana"/>
                <a:cs typeface="Verdana"/>
              </a:rPr>
              <a:t>stored</a:t>
            </a:r>
            <a:r>
              <a:rPr sz="1350" spc="-5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24F"/>
                </a:solidFill>
                <a:latin typeface="Verdana"/>
                <a:cs typeface="Verdana"/>
              </a:rPr>
              <a:t>hash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in</a:t>
            </a:r>
            <a:r>
              <a:rPr sz="1350" spc="-6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24F"/>
                </a:solidFill>
                <a:latin typeface="Verdana"/>
                <a:cs typeface="Verdana"/>
              </a:rPr>
              <a:t>a</a:t>
            </a:r>
            <a:r>
              <a:rPr sz="1350" spc="-6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secure</a:t>
            </a:r>
            <a:r>
              <a:rPr sz="1350" spc="-6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b="1" spc="50" dirty="0">
                <a:solidFill>
                  <a:srgbClr val="66524F"/>
                </a:solidFill>
                <a:latin typeface="Tahoma"/>
                <a:cs typeface="Tahoma"/>
              </a:rPr>
              <a:t>JSON</a:t>
            </a:r>
            <a:r>
              <a:rPr sz="1350" b="1" spc="55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350" b="1" dirty="0">
                <a:solidFill>
                  <a:srgbClr val="66524F"/>
                </a:solidFill>
                <a:latin typeface="Tahoma"/>
                <a:cs typeface="Tahoma"/>
              </a:rPr>
              <a:t>database</a:t>
            </a:r>
            <a:r>
              <a:rPr sz="1350" b="1" spc="20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(users.json).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11430000" cy="9124950"/>
          </a:xfrm>
          <a:custGeom>
            <a:avLst/>
            <a:gdLst/>
            <a:ahLst/>
            <a:cxnLst/>
            <a:rect l="l" t="t" r="r" b="b"/>
            <a:pathLst>
              <a:path w="11430000" h="9124950">
                <a:moveTo>
                  <a:pt x="11430000" y="0"/>
                </a:moveTo>
                <a:lnTo>
                  <a:pt x="0" y="0"/>
                </a:lnTo>
                <a:lnTo>
                  <a:pt x="0" y="9124950"/>
                </a:lnTo>
                <a:lnTo>
                  <a:pt x="11430000" y="91249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FF4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412047"/>
            <a:ext cx="8810625" cy="104266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950" dirty="0"/>
              <a:t>CHAPTER</a:t>
            </a:r>
            <a:r>
              <a:rPr sz="1950" spc="-40" dirty="0"/>
              <a:t> </a:t>
            </a:r>
            <a:r>
              <a:rPr sz="1950" spc="-90" dirty="0"/>
              <a:t>3</a:t>
            </a:r>
            <a:r>
              <a:rPr sz="1950" spc="-35" dirty="0"/>
              <a:t> </a:t>
            </a:r>
            <a:r>
              <a:rPr sz="1950" spc="90" dirty="0"/>
              <a:t>/</a:t>
            </a:r>
            <a:r>
              <a:rPr sz="1950" spc="-35" dirty="0"/>
              <a:t> </a:t>
            </a:r>
            <a:r>
              <a:rPr sz="1950" spc="-60" dirty="0"/>
              <a:t>REAL-</a:t>
            </a:r>
            <a:r>
              <a:rPr sz="1950" dirty="0"/>
              <a:t>WORLD</a:t>
            </a:r>
            <a:r>
              <a:rPr sz="1950" spc="-35" dirty="0"/>
              <a:t> </a:t>
            </a:r>
            <a:r>
              <a:rPr sz="1950" spc="-10" dirty="0"/>
              <a:t>ADOPTION</a:t>
            </a:r>
            <a:endParaRPr sz="1950"/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pc="-10" dirty="0"/>
              <a:t>Transformative</a:t>
            </a:r>
            <a:r>
              <a:rPr spc="-195" dirty="0"/>
              <a:t> </a:t>
            </a:r>
            <a:r>
              <a:rPr spc="45" dirty="0"/>
              <a:t>Applications</a:t>
            </a:r>
            <a:r>
              <a:rPr spc="-190" dirty="0"/>
              <a:t> </a:t>
            </a:r>
            <a:r>
              <a:rPr spc="360" dirty="0"/>
              <a:t>&amp;</a:t>
            </a:r>
            <a:r>
              <a:rPr spc="-185" dirty="0"/>
              <a:t> </a:t>
            </a:r>
            <a:r>
              <a:rPr dirty="0"/>
              <a:t>Use</a:t>
            </a:r>
            <a:r>
              <a:rPr spc="-190" dirty="0"/>
              <a:t> </a:t>
            </a:r>
            <a:r>
              <a:rPr spc="-10" dirty="0"/>
              <a:t>Cases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1876424"/>
            <a:ext cx="5038724" cy="2057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81675" y="1876424"/>
            <a:ext cx="5038724" cy="20574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" y="4067174"/>
            <a:ext cx="10210799" cy="205740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88676" y="6431742"/>
            <a:ext cx="537210" cy="509905"/>
            <a:chOff x="588676" y="6431742"/>
            <a:chExt cx="537210" cy="509905"/>
          </a:xfrm>
        </p:grpSpPr>
        <p:sp>
          <p:nvSpPr>
            <p:cNvPr id="8" name="object 8"/>
            <p:cNvSpPr/>
            <p:nvPr/>
          </p:nvSpPr>
          <p:spPr>
            <a:xfrm>
              <a:off x="600075" y="6443141"/>
              <a:ext cx="514350" cy="487045"/>
            </a:xfrm>
            <a:custGeom>
              <a:avLst/>
              <a:gdLst/>
              <a:ahLst/>
              <a:cxnLst/>
              <a:rect l="l" t="t" r="r" b="b"/>
              <a:pathLst>
                <a:path w="514350" h="487045">
                  <a:moveTo>
                    <a:pt x="157331" y="187452"/>
                  </a:moveTo>
                  <a:lnTo>
                    <a:pt x="197216" y="196202"/>
                  </a:lnTo>
                  <a:lnTo>
                    <a:pt x="233992" y="216166"/>
                  </a:lnTo>
                  <a:lnTo>
                    <a:pt x="262522" y="243471"/>
                  </a:lnTo>
                  <a:lnTo>
                    <a:pt x="284561" y="283264"/>
                  </a:lnTo>
                  <a:lnTo>
                    <a:pt x="294306" y="324241"/>
                  </a:lnTo>
                  <a:lnTo>
                    <a:pt x="295190" y="334518"/>
                  </a:lnTo>
                  <a:lnTo>
                    <a:pt x="294659" y="344575"/>
                  </a:lnTo>
                  <a:lnTo>
                    <a:pt x="287003" y="385162"/>
                  </a:lnTo>
                  <a:lnTo>
                    <a:pt x="268083" y="422750"/>
                  </a:lnTo>
                  <a:lnTo>
                    <a:pt x="239780" y="453527"/>
                  </a:lnTo>
                  <a:lnTo>
                    <a:pt x="204540" y="474935"/>
                  </a:lnTo>
                  <a:lnTo>
                    <a:pt x="165463" y="485655"/>
                  </a:lnTo>
                  <a:lnTo>
                    <a:pt x="145467" y="486806"/>
                  </a:lnTo>
                  <a:lnTo>
                    <a:pt x="135140" y="486689"/>
                  </a:lnTo>
                  <a:lnTo>
                    <a:pt x="94753" y="477418"/>
                  </a:lnTo>
                  <a:lnTo>
                    <a:pt x="59565" y="458228"/>
                  </a:lnTo>
                  <a:lnTo>
                    <a:pt x="30856" y="430276"/>
                  </a:lnTo>
                  <a:lnTo>
                    <a:pt x="9912" y="393839"/>
                  </a:lnTo>
                  <a:lnTo>
                    <a:pt x="228" y="352945"/>
                  </a:lnTo>
                  <a:lnTo>
                    <a:pt x="0" y="342352"/>
                  </a:lnTo>
                  <a:lnTo>
                    <a:pt x="241" y="331677"/>
                  </a:lnTo>
                  <a:lnTo>
                    <a:pt x="7379" y="290877"/>
                  </a:lnTo>
                  <a:lnTo>
                    <a:pt x="25506" y="253612"/>
                  </a:lnTo>
                  <a:lnTo>
                    <a:pt x="53270" y="222580"/>
                  </a:lnTo>
                  <a:lnTo>
                    <a:pt x="87935" y="200625"/>
                  </a:lnTo>
                  <a:lnTo>
                    <a:pt x="106695" y="193141"/>
                  </a:lnTo>
                </a:path>
                <a:path w="514350" h="487045">
                  <a:moveTo>
                    <a:pt x="462576" y="428409"/>
                  </a:moveTo>
                  <a:lnTo>
                    <a:pt x="459259" y="419991"/>
                  </a:lnTo>
                  <a:lnTo>
                    <a:pt x="453875" y="405939"/>
                  </a:lnTo>
                  <a:lnTo>
                    <a:pt x="446425" y="386253"/>
                  </a:lnTo>
                  <a:lnTo>
                    <a:pt x="436908" y="360934"/>
                  </a:lnTo>
                </a:path>
                <a:path w="514350" h="487045">
                  <a:moveTo>
                    <a:pt x="404361" y="274269"/>
                  </a:moveTo>
                  <a:lnTo>
                    <a:pt x="336903" y="258905"/>
                  </a:lnTo>
                  <a:lnTo>
                    <a:pt x="273809" y="258521"/>
                  </a:lnTo>
                </a:path>
                <a:path w="514350" h="487045">
                  <a:moveTo>
                    <a:pt x="97670" y="0"/>
                  </a:moveTo>
                  <a:lnTo>
                    <a:pt x="128805" y="24168"/>
                  </a:lnTo>
                  <a:lnTo>
                    <a:pt x="129633" y="29578"/>
                  </a:lnTo>
                  <a:lnTo>
                    <a:pt x="130531" y="36804"/>
                  </a:lnTo>
                </a:path>
                <a:path w="514350" h="487045">
                  <a:moveTo>
                    <a:pt x="34428" y="635"/>
                  </a:moveTo>
                  <a:lnTo>
                    <a:pt x="97670" y="0"/>
                  </a:lnTo>
                </a:path>
                <a:path w="514350" h="487045">
                  <a:moveTo>
                    <a:pt x="514349" y="428625"/>
                  </a:moveTo>
                  <a:lnTo>
                    <a:pt x="462576" y="428409"/>
                  </a:lnTo>
                </a:path>
                <a:path w="514350" h="487045">
                  <a:moveTo>
                    <a:pt x="143806" y="142163"/>
                  </a:moveTo>
                  <a:lnTo>
                    <a:pt x="324211" y="141427"/>
                  </a:lnTo>
                </a:path>
              </a:pathLst>
            </a:custGeom>
            <a:ln w="22798">
              <a:solidFill>
                <a:srgbClr val="FF94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0684" y="6744035"/>
              <a:ext cx="73295" cy="7329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06770" y="6479945"/>
              <a:ext cx="330835" cy="449580"/>
            </a:xfrm>
            <a:custGeom>
              <a:avLst/>
              <a:gdLst/>
              <a:ahLst/>
              <a:cxnLst/>
              <a:rect l="l" t="t" r="r" b="b"/>
              <a:pathLst>
                <a:path w="330834" h="449579">
                  <a:moveTo>
                    <a:pt x="330213" y="324129"/>
                  </a:moveTo>
                  <a:lnTo>
                    <a:pt x="297666" y="237464"/>
                  </a:lnTo>
                </a:path>
                <a:path w="330834" h="449579">
                  <a:moveTo>
                    <a:pt x="318362" y="400304"/>
                  </a:moveTo>
                  <a:lnTo>
                    <a:pt x="318362" y="406755"/>
                  </a:lnTo>
                  <a:lnTo>
                    <a:pt x="317127" y="412965"/>
                  </a:lnTo>
                  <a:lnTo>
                    <a:pt x="314656" y="418934"/>
                  </a:lnTo>
                  <a:lnTo>
                    <a:pt x="312186" y="424891"/>
                  </a:lnTo>
                  <a:lnTo>
                    <a:pt x="308669" y="430161"/>
                  </a:lnTo>
                  <a:lnTo>
                    <a:pt x="304105" y="434721"/>
                  </a:lnTo>
                  <a:lnTo>
                    <a:pt x="299540" y="439293"/>
                  </a:lnTo>
                  <a:lnTo>
                    <a:pt x="294278" y="442810"/>
                  </a:lnTo>
                  <a:lnTo>
                    <a:pt x="288309" y="445274"/>
                  </a:lnTo>
                  <a:lnTo>
                    <a:pt x="282346" y="447751"/>
                  </a:lnTo>
                  <a:lnTo>
                    <a:pt x="276139" y="448983"/>
                  </a:lnTo>
                  <a:lnTo>
                    <a:pt x="269680" y="448983"/>
                  </a:lnTo>
                  <a:lnTo>
                    <a:pt x="263226" y="448983"/>
                  </a:lnTo>
                  <a:lnTo>
                    <a:pt x="257021" y="447751"/>
                  </a:lnTo>
                  <a:lnTo>
                    <a:pt x="251052" y="445274"/>
                  </a:lnTo>
                  <a:lnTo>
                    <a:pt x="245089" y="442810"/>
                  </a:lnTo>
                  <a:lnTo>
                    <a:pt x="239826" y="439293"/>
                  </a:lnTo>
                  <a:lnTo>
                    <a:pt x="235262" y="434721"/>
                  </a:lnTo>
                  <a:lnTo>
                    <a:pt x="230698" y="430161"/>
                  </a:lnTo>
                  <a:lnTo>
                    <a:pt x="227181" y="424891"/>
                  </a:lnTo>
                  <a:lnTo>
                    <a:pt x="224709" y="418934"/>
                  </a:lnTo>
                  <a:lnTo>
                    <a:pt x="222239" y="412965"/>
                  </a:lnTo>
                  <a:lnTo>
                    <a:pt x="221004" y="406755"/>
                  </a:lnTo>
                  <a:lnTo>
                    <a:pt x="221004" y="400304"/>
                  </a:lnTo>
                  <a:lnTo>
                    <a:pt x="221004" y="393852"/>
                  </a:lnTo>
                  <a:lnTo>
                    <a:pt x="222239" y="387629"/>
                  </a:lnTo>
                  <a:lnTo>
                    <a:pt x="224709" y="381673"/>
                  </a:lnTo>
                  <a:lnTo>
                    <a:pt x="227181" y="375704"/>
                  </a:lnTo>
                  <a:lnTo>
                    <a:pt x="230698" y="370446"/>
                  </a:lnTo>
                  <a:lnTo>
                    <a:pt x="235262" y="365887"/>
                  </a:lnTo>
                  <a:lnTo>
                    <a:pt x="239826" y="361315"/>
                  </a:lnTo>
                  <a:lnTo>
                    <a:pt x="245089" y="357797"/>
                  </a:lnTo>
                  <a:lnTo>
                    <a:pt x="251052" y="355333"/>
                  </a:lnTo>
                  <a:lnTo>
                    <a:pt x="257021" y="352856"/>
                  </a:lnTo>
                  <a:lnTo>
                    <a:pt x="263226" y="351624"/>
                  </a:lnTo>
                  <a:lnTo>
                    <a:pt x="269680" y="351624"/>
                  </a:lnTo>
                  <a:lnTo>
                    <a:pt x="276139" y="351624"/>
                  </a:lnTo>
                  <a:lnTo>
                    <a:pt x="282346" y="352856"/>
                  </a:lnTo>
                  <a:lnTo>
                    <a:pt x="288309" y="355333"/>
                  </a:lnTo>
                  <a:lnTo>
                    <a:pt x="294278" y="357797"/>
                  </a:lnTo>
                  <a:lnTo>
                    <a:pt x="299540" y="361315"/>
                  </a:lnTo>
                  <a:lnTo>
                    <a:pt x="304105" y="365887"/>
                  </a:lnTo>
                  <a:lnTo>
                    <a:pt x="308669" y="370446"/>
                  </a:lnTo>
                  <a:lnTo>
                    <a:pt x="312186" y="375704"/>
                  </a:lnTo>
                  <a:lnTo>
                    <a:pt x="314656" y="381673"/>
                  </a:lnTo>
                  <a:lnTo>
                    <a:pt x="317127" y="387629"/>
                  </a:lnTo>
                  <a:lnTo>
                    <a:pt x="318362" y="393852"/>
                  </a:lnTo>
                  <a:lnTo>
                    <a:pt x="318362" y="400304"/>
                  </a:lnTo>
                  <a:close/>
                </a:path>
                <a:path w="330834" h="449579">
                  <a:moveTo>
                    <a:pt x="0" y="156337"/>
                  </a:moveTo>
                  <a:lnTo>
                    <a:pt x="50636" y="150647"/>
                  </a:lnTo>
                </a:path>
                <a:path w="330834" h="449579">
                  <a:moveTo>
                    <a:pt x="23836" y="0"/>
                  </a:moveTo>
                  <a:lnTo>
                    <a:pt x="42927" y="149987"/>
                  </a:lnTo>
                </a:path>
              </a:pathLst>
            </a:custGeom>
            <a:ln w="22798">
              <a:solidFill>
                <a:srgbClr val="FF94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16037" y="6551262"/>
            <a:ext cx="2444750" cy="17640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spc="-10" dirty="0">
                <a:solidFill>
                  <a:srgbClr val="66524F"/>
                </a:solidFill>
                <a:latin typeface="Tahoma"/>
                <a:cs typeface="Tahoma"/>
              </a:rPr>
              <a:t>Enhanced</a:t>
            </a:r>
            <a:r>
              <a:rPr sz="1950" spc="-95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66524F"/>
                </a:solidFill>
                <a:latin typeface="Tahoma"/>
                <a:cs typeface="Tahoma"/>
              </a:rPr>
              <a:t>Accessibility</a:t>
            </a:r>
            <a:endParaRPr sz="1950">
              <a:latin typeface="Tahoma"/>
              <a:cs typeface="Tahoma"/>
            </a:endParaRPr>
          </a:p>
          <a:p>
            <a:pPr marL="12700" marR="81280">
              <a:lnSpc>
                <a:spcPct val="108300"/>
              </a:lnSpc>
              <a:spcBef>
                <a:spcPts val="825"/>
              </a:spcBef>
            </a:pP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Provides</a:t>
            </a:r>
            <a:r>
              <a:rPr sz="1350" spc="-114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24F"/>
                </a:solidFill>
                <a:latin typeface="Verdana"/>
                <a:cs typeface="Verdana"/>
              </a:rPr>
              <a:t>a</a:t>
            </a:r>
            <a:r>
              <a:rPr sz="1350" spc="-11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critical</a:t>
            </a:r>
            <a:r>
              <a:rPr sz="1350" spc="-114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interface </a:t>
            </a:r>
            <a:r>
              <a:rPr sz="1350" spc="-25" dirty="0">
                <a:solidFill>
                  <a:srgbClr val="66524F"/>
                </a:solidFill>
                <a:latin typeface="Verdana"/>
                <a:cs typeface="Verdana"/>
              </a:rPr>
              <a:t>for</a:t>
            </a:r>
            <a:r>
              <a:rPr sz="1350" spc="-5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individuals</a:t>
            </a:r>
            <a:r>
              <a:rPr sz="1350" spc="-5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with</a:t>
            </a:r>
            <a:r>
              <a:rPr sz="1350" spc="-5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severe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mobility</a:t>
            </a:r>
            <a:r>
              <a:rPr sz="1350" spc="-9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24F"/>
                </a:solidFill>
                <a:latin typeface="Verdana"/>
                <a:cs typeface="Verdana"/>
              </a:rPr>
              <a:t>issues</a:t>
            </a:r>
            <a:r>
              <a:rPr sz="1350" spc="-9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(ALS, </a:t>
            </a:r>
            <a:r>
              <a:rPr sz="1350" spc="-50" dirty="0">
                <a:solidFill>
                  <a:srgbClr val="66524F"/>
                </a:solidFill>
                <a:latin typeface="Verdana"/>
                <a:cs typeface="Verdana"/>
              </a:rPr>
              <a:t>paralysis)</a:t>
            </a:r>
            <a:r>
              <a:rPr sz="1350" spc="-7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to</a:t>
            </a:r>
            <a:r>
              <a:rPr sz="1350" spc="-7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control</a:t>
            </a:r>
            <a:r>
              <a:rPr sz="1350" spc="-7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devices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and</a:t>
            </a:r>
            <a:r>
              <a:rPr sz="1350" spc="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authenticate</a:t>
            </a:r>
            <a:r>
              <a:rPr sz="1350" spc="3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access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completely</a:t>
            </a:r>
            <a:r>
              <a:rPr sz="1350" spc="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hands-free.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074923" y="6418263"/>
            <a:ext cx="537210" cy="536575"/>
            <a:chOff x="4074923" y="6418263"/>
            <a:chExt cx="537210" cy="536575"/>
          </a:xfrm>
        </p:grpSpPr>
        <p:sp>
          <p:nvSpPr>
            <p:cNvPr id="13" name="object 13"/>
            <p:cNvSpPr/>
            <p:nvPr/>
          </p:nvSpPr>
          <p:spPr>
            <a:xfrm>
              <a:off x="4344030" y="6687169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40">
                  <a:moveTo>
                    <a:pt x="58487" y="19700"/>
                  </a:moveTo>
                  <a:lnTo>
                    <a:pt x="25023" y="51151"/>
                  </a:lnTo>
                  <a:lnTo>
                    <a:pt x="4563" y="93611"/>
                  </a:lnTo>
                  <a:lnTo>
                    <a:pt x="0" y="122272"/>
                  </a:lnTo>
                  <a:lnTo>
                    <a:pt x="77" y="131604"/>
                  </a:lnTo>
                  <a:lnTo>
                    <a:pt x="7168" y="169471"/>
                  </a:lnTo>
                  <a:lnTo>
                    <a:pt x="29776" y="210323"/>
                  </a:lnTo>
                  <a:lnTo>
                    <a:pt x="65345" y="240502"/>
                  </a:lnTo>
                  <a:lnTo>
                    <a:pt x="109607" y="255172"/>
                  </a:lnTo>
                  <a:lnTo>
                    <a:pt x="129102" y="256353"/>
                  </a:lnTo>
                  <a:lnTo>
                    <a:pt x="138993" y="256212"/>
                  </a:lnTo>
                  <a:lnTo>
                    <a:pt x="176051" y="247360"/>
                  </a:lnTo>
                  <a:lnTo>
                    <a:pt x="209059" y="227992"/>
                  </a:lnTo>
                  <a:lnTo>
                    <a:pt x="238997" y="192017"/>
                  </a:lnTo>
                  <a:lnTo>
                    <a:pt x="252902" y="156181"/>
                  </a:lnTo>
                  <a:lnTo>
                    <a:pt x="256544" y="128069"/>
                  </a:lnTo>
                  <a:lnTo>
                    <a:pt x="255997" y="119180"/>
                  </a:lnTo>
                  <a:lnTo>
                    <a:pt x="244526" y="74159"/>
                  </a:lnTo>
                  <a:lnTo>
                    <a:pt x="223344" y="41990"/>
                  </a:lnTo>
                  <a:lnTo>
                    <a:pt x="187119" y="14202"/>
                  </a:lnTo>
                  <a:lnTo>
                    <a:pt x="142053" y="332"/>
                  </a:lnTo>
                  <a:lnTo>
                    <a:pt x="133047" y="0"/>
                  </a:lnTo>
                  <a:lnTo>
                    <a:pt x="123646" y="108"/>
                  </a:lnTo>
                  <a:lnTo>
                    <a:pt x="78535" y="9719"/>
                  </a:lnTo>
                  <a:lnTo>
                    <a:pt x="58487" y="19700"/>
                  </a:lnTo>
                </a:path>
              </a:pathLst>
            </a:custGeom>
            <a:ln w="22603">
              <a:solidFill>
                <a:srgbClr val="FF94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17124" y="6728219"/>
              <a:ext cx="109992" cy="16795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468711" y="6429565"/>
              <a:ext cx="80645" cy="57785"/>
            </a:xfrm>
            <a:custGeom>
              <a:avLst/>
              <a:gdLst/>
              <a:ahLst/>
              <a:cxnLst/>
              <a:rect l="l" t="t" r="r" b="b"/>
              <a:pathLst>
                <a:path w="80645" h="57785">
                  <a:moveTo>
                    <a:pt x="80327" y="57607"/>
                  </a:moveTo>
                  <a:lnTo>
                    <a:pt x="65405" y="18681"/>
                  </a:lnTo>
                  <a:lnTo>
                    <a:pt x="28267" y="676"/>
                  </a:lnTo>
                  <a:lnTo>
                    <a:pt x="11256" y="100"/>
                  </a:lnTo>
                  <a:lnTo>
                    <a:pt x="0" y="0"/>
                  </a:lnTo>
                </a:path>
              </a:pathLst>
            </a:custGeom>
            <a:ln w="22603">
              <a:solidFill>
                <a:srgbClr val="FF94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74936" y="6418275"/>
              <a:ext cx="88122" cy="9792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086225" y="6487172"/>
              <a:ext cx="462915" cy="384175"/>
            </a:xfrm>
            <a:custGeom>
              <a:avLst/>
              <a:gdLst/>
              <a:ahLst/>
              <a:cxnLst/>
              <a:rect l="l" t="t" r="r" b="b"/>
              <a:pathLst>
                <a:path w="462914" h="384175">
                  <a:moveTo>
                    <a:pt x="0" y="288366"/>
                  </a:moveTo>
                  <a:lnTo>
                    <a:pt x="10909" y="325640"/>
                  </a:lnTo>
                  <a:lnTo>
                    <a:pt x="42595" y="347383"/>
                  </a:lnTo>
                  <a:lnTo>
                    <a:pt x="63253" y="349215"/>
                  </a:lnTo>
                  <a:lnTo>
                    <a:pt x="72059" y="349465"/>
                  </a:lnTo>
                </a:path>
                <a:path w="462914" h="384175">
                  <a:moveTo>
                    <a:pt x="462902" y="186956"/>
                  </a:moveTo>
                  <a:lnTo>
                    <a:pt x="462813" y="0"/>
                  </a:lnTo>
                </a:path>
                <a:path w="462914" h="384175">
                  <a:moveTo>
                    <a:pt x="72059" y="349465"/>
                  </a:moveTo>
                  <a:lnTo>
                    <a:pt x="226441" y="349440"/>
                  </a:lnTo>
                </a:path>
                <a:path w="462914" h="384175">
                  <a:moveTo>
                    <a:pt x="64490" y="383590"/>
                  </a:moveTo>
                  <a:lnTo>
                    <a:pt x="64516" y="349377"/>
                  </a:lnTo>
                </a:path>
                <a:path w="462914" h="384175">
                  <a:moveTo>
                    <a:pt x="121412" y="36664"/>
                  </a:moveTo>
                  <a:lnTo>
                    <a:pt x="115150" y="41287"/>
                  </a:lnTo>
                  <a:lnTo>
                    <a:pt x="109321" y="46405"/>
                  </a:lnTo>
                  <a:lnTo>
                    <a:pt x="103936" y="52019"/>
                  </a:lnTo>
                  <a:lnTo>
                    <a:pt x="98552" y="57632"/>
                  </a:lnTo>
                  <a:lnTo>
                    <a:pt x="77978" y="90411"/>
                  </a:lnTo>
                  <a:lnTo>
                    <a:pt x="70243" y="112356"/>
                  </a:lnTo>
                  <a:lnTo>
                    <a:pt x="68287" y="119888"/>
                  </a:lnTo>
                  <a:lnTo>
                    <a:pt x="66992" y="127533"/>
                  </a:lnTo>
                  <a:lnTo>
                    <a:pt x="66344" y="135293"/>
                  </a:lnTo>
                  <a:lnTo>
                    <a:pt x="65697" y="143040"/>
                  </a:lnTo>
                  <a:lnTo>
                    <a:pt x="65722" y="150799"/>
                  </a:lnTo>
                  <a:lnTo>
                    <a:pt x="66395" y="158546"/>
                  </a:lnTo>
                  <a:lnTo>
                    <a:pt x="67068" y="166293"/>
                  </a:lnTo>
                  <a:lnTo>
                    <a:pt x="78193" y="203365"/>
                  </a:lnTo>
                  <a:lnTo>
                    <a:pt x="98907" y="236080"/>
                  </a:lnTo>
                  <a:lnTo>
                    <a:pt x="104317" y="241668"/>
                  </a:lnTo>
                  <a:lnTo>
                    <a:pt x="109715" y="247256"/>
                  </a:lnTo>
                  <a:lnTo>
                    <a:pt x="115570" y="252361"/>
                  </a:lnTo>
                  <a:lnTo>
                    <a:pt x="121843" y="256946"/>
                  </a:lnTo>
                  <a:lnTo>
                    <a:pt x="128130" y="261543"/>
                  </a:lnTo>
                  <a:lnTo>
                    <a:pt x="163360" y="277583"/>
                  </a:lnTo>
                  <a:lnTo>
                    <a:pt x="201599" y="283540"/>
                  </a:lnTo>
                  <a:lnTo>
                    <a:pt x="209372" y="283146"/>
                  </a:lnTo>
                  <a:lnTo>
                    <a:pt x="217144" y="282752"/>
                  </a:lnTo>
                  <a:lnTo>
                    <a:pt x="224828" y="281711"/>
                  </a:lnTo>
                  <a:lnTo>
                    <a:pt x="232422" y="280009"/>
                  </a:lnTo>
                </a:path>
              </a:pathLst>
            </a:custGeom>
            <a:ln w="22603">
              <a:solidFill>
                <a:srgbClr val="FF94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96614" y="6486449"/>
              <a:ext cx="322005" cy="20978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60508" y="6715811"/>
              <a:ext cx="65250" cy="18295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086225" y="6429565"/>
              <a:ext cx="382905" cy="346075"/>
            </a:xfrm>
            <a:custGeom>
              <a:avLst/>
              <a:gdLst/>
              <a:ahLst/>
              <a:cxnLst/>
              <a:rect l="l" t="t" r="r" b="b"/>
              <a:pathLst>
                <a:path w="382904" h="346075">
                  <a:moveTo>
                    <a:pt x="382485" y="0"/>
                  </a:moveTo>
                  <a:lnTo>
                    <a:pt x="65532" y="12"/>
                  </a:lnTo>
                </a:path>
                <a:path w="382904" h="346075">
                  <a:moveTo>
                    <a:pt x="12" y="75336"/>
                  </a:moveTo>
                  <a:lnTo>
                    <a:pt x="0" y="345973"/>
                  </a:lnTo>
                </a:path>
              </a:pathLst>
            </a:custGeom>
            <a:ln w="22603">
              <a:solidFill>
                <a:srgbClr val="FF94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797425" y="6523107"/>
            <a:ext cx="2491740" cy="1896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6685">
              <a:lnSpc>
                <a:spcPct val="109000"/>
              </a:lnSpc>
              <a:spcBef>
                <a:spcPts val="100"/>
              </a:spcBef>
            </a:pPr>
            <a:r>
              <a:rPr sz="1950" dirty="0">
                <a:solidFill>
                  <a:srgbClr val="66524F"/>
                </a:solidFill>
                <a:latin typeface="Tahoma"/>
                <a:cs typeface="Tahoma"/>
              </a:rPr>
              <a:t>High-</a:t>
            </a:r>
            <a:r>
              <a:rPr sz="1950" spc="-10" dirty="0">
                <a:solidFill>
                  <a:srgbClr val="66524F"/>
                </a:solidFill>
                <a:latin typeface="Tahoma"/>
                <a:cs typeface="Tahoma"/>
              </a:rPr>
              <a:t>Security/Covert Operations</a:t>
            </a:r>
            <a:endParaRPr sz="1950">
              <a:latin typeface="Tahoma"/>
              <a:cs typeface="Tahoma"/>
            </a:endParaRPr>
          </a:p>
          <a:p>
            <a:pPr marL="12700" marR="5080">
              <a:lnSpc>
                <a:spcPct val="108800"/>
              </a:lnSpc>
              <a:spcBef>
                <a:spcPts val="815"/>
              </a:spcBef>
            </a:pP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Enables</a:t>
            </a:r>
            <a:r>
              <a:rPr sz="1350" spc="-5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field</a:t>
            </a:r>
            <a:r>
              <a:rPr sz="1350" spc="-5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agents</a:t>
            </a:r>
            <a:r>
              <a:rPr sz="1350" spc="-5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24F"/>
                </a:solidFill>
                <a:latin typeface="Verdana"/>
                <a:cs typeface="Verdana"/>
              </a:rPr>
              <a:t>to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access</a:t>
            </a:r>
            <a:r>
              <a:rPr sz="1350" spc="-10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secure</a:t>
            </a:r>
            <a:r>
              <a:rPr sz="1350" spc="-10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data</a:t>
            </a:r>
            <a:r>
              <a:rPr sz="1350" spc="-10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24F"/>
                </a:solidFill>
                <a:latin typeface="Verdana"/>
                <a:cs typeface="Verdana"/>
              </a:rPr>
              <a:t>or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equipment</a:t>
            </a:r>
            <a:r>
              <a:rPr sz="1350" spc="2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66524F"/>
                </a:solidFill>
                <a:latin typeface="Verdana"/>
                <a:cs typeface="Verdana"/>
              </a:rPr>
              <a:t>silently,</a:t>
            </a:r>
            <a:r>
              <a:rPr sz="1350" spc="2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or</a:t>
            </a:r>
            <a:r>
              <a:rPr sz="1350" spc="2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24F"/>
                </a:solidFill>
                <a:latin typeface="Verdana"/>
                <a:cs typeface="Verdana"/>
              </a:rPr>
              <a:t>for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high-</a:t>
            </a:r>
            <a:r>
              <a:rPr sz="1350" spc="-20" dirty="0">
                <a:solidFill>
                  <a:srgbClr val="66524F"/>
                </a:solidFill>
                <a:latin typeface="Verdana"/>
                <a:cs typeface="Verdana"/>
              </a:rPr>
              <a:t>security</a:t>
            </a:r>
            <a:r>
              <a:rPr sz="1350" spc="-3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66524F"/>
                </a:solidFill>
                <a:latin typeface="Verdana"/>
                <a:cs typeface="Verdana"/>
              </a:rPr>
              <a:t>areas</a:t>
            </a:r>
            <a:r>
              <a:rPr sz="1350" spc="-3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requiring </a:t>
            </a:r>
            <a:r>
              <a:rPr sz="1350" spc="-40" dirty="0">
                <a:solidFill>
                  <a:srgbClr val="66524F"/>
                </a:solidFill>
                <a:latin typeface="Verdana"/>
                <a:cs typeface="Verdana"/>
              </a:rPr>
              <a:t>zero-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touch</a:t>
            </a:r>
            <a:r>
              <a:rPr sz="1350" spc="6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login.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562850" y="6435651"/>
            <a:ext cx="514350" cy="502284"/>
          </a:xfrm>
          <a:custGeom>
            <a:avLst/>
            <a:gdLst/>
            <a:ahLst/>
            <a:cxnLst/>
            <a:rect l="l" t="t" r="r" b="b"/>
            <a:pathLst>
              <a:path w="514350" h="502284">
                <a:moveTo>
                  <a:pt x="452678" y="439975"/>
                </a:moveTo>
                <a:lnTo>
                  <a:pt x="436930" y="400503"/>
                </a:lnTo>
                <a:lnTo>
                  <a:pt x="400342" y="379104"/>
                </a:lnTo>
                <a:lnTo>
                  <a:pt x="392178" y="378659"/>
                </a:lnTo>
                <a:lnTo>
                  <a:pt x="384519" y="378821"/>
                </a:lnTo>
                <a:lnTo>
                  <a:pt x="346925" y="395284"/>
                </a:lnTo>
                <a:lnTo>
                  <a:pt x="329005" y="428214"/>
                </a:lnTo>
                <a:lnTo>
                  <a:pt x="326390" y="438603"/>
                </a:lnTo>
              </a:path>
              <a:path w="514350" h="502284">
                <a:moveTo>
                  <a:pt x="187769" y="438400"/>
                </a:moveTo>
                <a:lnTo>
                  <a:pt x="170378" y="400214"/>
                </a:lnTo>
                <a:lnTo>
                  <a:pt x="136626" y="379510"/>
                </a:lnTo>
                <a:lnTo>
                  <a:pt x="124358" y="378062"/>
                </a:lnTo>
                <a:lnTo>
                  <a:pt x="119062" y="378316"/>
                </a:lnTo>
                <a:lnTo>
                  <a:pt x="83197" y="394369"/>
                </a:lnTo>
                <a:lnTo>
                  <a:pt x="64719" y="423567"/>
                </a:lnTo>
                <a:lnTo>
                  <a:pt x="60820" y="438794"/>
                </a:lnTo>
              </a:path>
              <a:path w="514350" h="502284">
                <a:moveTo>
                  <a:pt x="187769" y="438400"/>
                </a:moveTo>
                <a:lnTo>
                  <a:pt x="175641" y="474925"/>
                </a:lnTo>
                <a:lnTo>
                  <a:pt x="142849" y="499081"/>
                </a:lnTo>
                <a:lnTo>
                  <a:pt x="125476" y="501887"/>
                </a:lnTo>
                <a:lnTo>
                  <a:pt x="119443" y="501646"/>
                </a:lnTo>
                <a:lnTo>
                  <a:pt x="81622" y="484298"/>
                </a:lnTo>
                <a:lnTo>
                  <a:pt x="64770" y="456244"/>
                </a:lnTo>
                <a:lnTo>
                  <a:pt x="60820" y="438794"/>
                </a:lnTo>
              </a:path>
              <a:path w="514350" h="502284">
                <a:moveTo>
                  <a:pt x="272376" y="695"/>
                </a:moveTo>
                <a:lnTo>
                  <a:pt x="315239" y="9915"/>
                </a:lnTo>
                <a:lnTo>
                  <a:pt x="354190" y="28431"/>
                </a:lnTo>
                <a:lnTo>
                  <a:pt x="370670" y="40113"/>
                </a:lnTo>
                <a:lnTo>
                  <a:pt x="376174" y="44345"/>
                </a:lnTo>
              </a:path>
              <a:path w="514350" h="502284">
                <a:moveTo>
                  <a:pt x="127101" y="185315"/>
                </a:moveTo>
                <a:lnTo>
                  <a:pt x="88900" y="196364"/>
                </a:lnTo>
                <a:lnTo>
                  <a:pt x="65051" y="222263"/>
                </a:lnTo>
                <a:lnTo>
                  <a:pt x="58254" y="232330"/>
                </a:lnTo>
              </a:path>
              <a:path w="514350" h="502284">
                <a:moveTo>
                  <a:pt x="12331" y="302193"/>
                </a:moveTo>
                <a:lnTo>
                  <a:pt x="8605" y="309709"/>
                </a:lnTo>
                <a:lnTo>
                  <a:pt x="5464" y="317258"/>
                </a:lnTo>
                <a:lnTo>
                  <a:pt x="2880" y="324888"/>
                </a:lnTo>
                <a:lnTo>
                  <a:pt x="825" y="332647"/>
                </a:lnTo>
                <a:lnTo>
                  <a:pt x="12" y="342261"/>
                </a:lnTo>
              </a:path>
              <a:path w="514350" h="502284">
                <a:moveTo>
                  <a:pt x="0" y="403094"/>
                </a:moveTo>
                <a:lnTo>
                  <a:pt x="23990" y="436724"/>
                </a:lnTo>
                <a:lnTo>
                  <a:pt x="50252" y="438715"/>
                </a:lnTo>
                <a:lnTo>
                  <a:pt x="60820" y="438794"/>
                </a:lnTo>
              </a:path>
              <a:path w="514350" h="502284">
                <a:moveTo>
                  <a:pt x="511124" y="417750"/>
                </a:moveTo>
                <a:lnTo>
                  <a:pt x="473308" y="438625"/>
                </a:lnTo>
                <a:lnTo>
                  <a:pt x="465608" y="438956"/>
                </a:lnTo>
                <a:lnTo>
                  <a:pt x="458731" y="439406"/>
                </a:lnTo>
                <a:lnTo>
                  <a:pt x="452678" y="439975"/>
                </a:lnTo>
              </a:path>
              <a:path w="514350" h="502284">
                <a:moveTo>
                  <a:pt x="135331" y="45284"/>
                </a:moveTo>
                <a:lnTo>
                  <a:pt x="181915" y="15631"/>
                </a:lnTo>
                <a:lnTo>
                  <a:pt x="235410" y="1134"/>
                </a:lnTo>
                <a:lnTo>
                  <a:pt x="253786" y="0"/>
                </a:lnTo>
                <a:lnTo>
                  <a:pt x="272376" y="733"/>
                </a:lnTo>
              </a:path>
              <a:path w="514350" h="502284">
                <a:moveTo>
                  <a:pt x="179120" y="91119"/>
                </a:moveTo>
                <a:lnTo>
                  <a:pt x="184531" y="86877"/>
                </a:lnTo>
                <a:lnTo>
                  <a:pt x="190271" y="83118"/>
                </a:lnTo>
                <a:lnTo>
                  <a:pt x="196303" y="79816"/>
                </a:lnTo>
                <a:lnTo>
                  <a:pt x="202336" y="76514"/>
                </a:lnTo>
                <a:lnTo>
                  <a:pt x="241782" y="65084"/>
                </a:lnTo>
                <a:lnTo>
                  <a:pt x="255498" y="64385"/>
                </a:lnTo>
                <a:lnTo>
                  <a:pt x="262369" y="64322"/>
                </a:lnTo>
                <a:lnTo>
                  <a:pt x="269214" y="64804"/>
                </a:lnTo>
                <a:lnTo>
                  <a:pt x="276009" y="65871"/>
                </a:lnTo>
                <a:lnTo>
                  <a:pt x="282803" y="66912"/>
                </a:lnTo>
                <a:lnTo>
                  <a:pt x="314972" y="78660"/>
                </a:lnTo>
                <a:lnTo>
                  <a:pt x="321068" y="81835"/>
                </a:lnTo>
                <a:lnTo>
                  <a:pt x="326872" y="85493"/>
                </a:lnTo>
                <a:lnTo>
                  <a:pt x="332371" y="89633"/>
                </a:lnTo>
              </a:path>
              <a:path w="514350" h="502284">
                <a:moveTo>
                  <a:pt x="451789" y="439975"/>
                </a:moveTo>
                <a:lnTo>
                  <a:pt x="440994" y="474557"/>
                </a:lnTo>
                <a:lnTo>
                  <a:pt x="438696" y="477948"/>
                </a:lnTo>
                <a:lnTo>
                  <a:pt x="436079" y="481072"/>
                </a:lnTo>
                <a:lnTo>
                  <a:pt x="433146" y="483942"/>
                </a:lnTo>
                <a:lnTo>
                  <a:pt x="430225" y="486813"/>
                </a:lnTo>
                <a:lnTo>
                  <a:pt x="401027" y="500706"/>
                </a:lnTo>
                <a:lnTo>
                  <a:pt x="397002" y="501468"/>
                </a:lnTo>
                <a:lnTo>
                  <a:pt x="392950" y="501824"/>
                </a:lnTo>
                <a:lnTo>
                  <a:pt x="388848" y="501773"/>
                </a:lnTo>
                <a:lnTo>
                  <a:pt x="384746" y="501735"/>
                </a:lnTo>
                <a:lnTo>
                  <a:pt x="380695" y="501291"/>
                </a:lnTo>
                <a:lnTo>
                  <a:pt x="376682" y="500440"/>
                </a:lnTo>
                <a:lnTo>
                  <a:pt x="372681" y="499601"/>
                </a:lnTo>
                <a:lnTo>
                  <a:pt x="368782" y="498370"/>
                </a:lnTo>
                <a:lnTo>
                  <a:pt x="365023" y="496757"/>
                </a:lnTo>
                <a:lnTo>
                  <a:pt x="361251" y="495144"/>
                </a:lnTo>
                <a:lnTo>
                  <a:pt x="344944" y="482977"/>
                </a:lnTo>
                <a:lnTo>
                  <a:pt x="342087" y="480056"/>
                </a:lnTo>
                <a:lnTo>
                  <a:pt x="328295" y="450808"/>
                </a:lnTo>
                <a:lnTo>
                  <a:pt x="327545" y="446782"/>
                </a:lnTo>
                <a:lnTo>
                  <a:pt x="327202" y="442718"/>
                </a:lnTo>
                <a:lnTo>
                  <a:pt x="327266" y="438616"/>
                </a:lnTo>
              </a:path>
              <a:path w="514350" h="502284">
                <a:moveTo>
                  <a:pt x="407492" y="282673"/>
                </a:moveTo>
                <a:lnTo>
                  <a:pt x="334022" y="206739"/>
                </a:lnTo>
              </a:path>
              <a:path w="514350" h="502284">
                <a:moveTo>
                  <a:pt x="407492" y="282673"/>
                </a:moveTo>
                <a:lnTo>
                  <a:pt x="408851" y="283574"/>
                </a:lnTo>
                <a:lnTo>
                  <a:pt x="410413" y="284413"/>
                </a:lnTo>
                <a:lnTo>
                  <a:pt x="468261" y="292630"/>
                </a:lnTo>
              </a:path>
              <a:path w="514350" h="502284">
                <a:moveTo>
                  <a:pt x="326390" y="438603"/>
                </a:moveTo>
                <a:lnTo>
                  <a:pt x="187769" y="438400"/>
                </a:lnTo>
              </a:path>
              <a:path w="514350" h="502284">
                <a:moveTo>
                  <a:pt x="224599" y="135658"/>
                </a:moveTo>
                <a:lnTo>
                  <a:pt x="229260" y="132254"/>
                </a:lnTo>
                <a:lnTo>
                  <a:pt x="234315" y="129676"/>
                </a:lnTo>
                <a:lnTo>
                  <a:pt x="239801" y="127911"/>
                </a:lnTo>
                <a:lnTo>
                  <a:pt x="245287" y="126145"/>
                </a:lnTo>
                <a:lnTo>
                  <a:pt x="250901" y="125282"/>
                </a:lnTo>
                <a:lnTo>
                  <a:pt x="256667" y="125320"/>
                </a:lnTo>
                <a:lnTo>
                  <a:pt x="262420" y="125371"/>
                </a:lnTo>
                <a:lnTo>
                  <a:pt x="268033" y="126310"/>
                </a:lnTo>
                <a:lnTo>
                  <a:pt x="273481" y="128165"/>
                </a:lnTo>
                <a:lnTo>
                  <a:pt x="278942" y="130006"/>
                </a:lnTo>
                <a:lnTo>
                  <a:pt x="283972" y="132673"/>
                </a:lnTo>
                <a:lnTo>
                  <a:pt x="288569" y="136140"/>
                </a:lnTo>
              </a:path>
              <a:path w="514350" h="502284">
                <a:moveTo>
                  <a:pt x="333946" y="206803"/>
                </a:moveTo>
                <a:lnTo>
                  <a:pt x="300439" y="186981"/>
                </a:lnTo>
                <a:lnTo>
                  <a:pt x="284908" y="185150"/>
                </a:lnTo>
                <a:lnTo>
                  <a:pt x="276974" y="185645"/>
                </a:lnTo>
              </a:path>
              <a:path w="514350" h="502284">
                <a:moveTo>
                  <a:pt x="12" y="342261"/>
                </a:moveTo>
                <a:lnTo>
                  <a:pt x="0" y="403094"/>
                </a:lnTo>
              </a:path>
              <a:path w="514350" h="502284">
                <a:moveTo>
                  <a:pt x="276936" y="185327"/>
                </a:moveTo>
                <a:lnTo>
                  <a:pt x="127101" y="185315"/>
                </a:lnTo>
              </a:path>
              <a:path w="514350" h="502284">
                <a:moveTo>
                  <a:pt x="58254" y="232330"/>
                </a:moveTo>
                <a:lnTo>
                  <a:pt x="12331" y="302193"/>
                </a:lnTo>
              </a:path>
              <a:path w="514350" h="502284">
                <a:moveTo>
                  <a:pt x="468223" y="292833"/>
                </a:moveTo>
                <a:lnTo>
                  <a:pt x="474484" y="294179"/>
                </a:lnTo>
                <a:lnTo>
                  <a:pt x="480364" y="296490"/>
                </a:lnTo>
                <a:lnTo>
                  <a:pt x="485863" y="299767"/>
                </a:lnTo>
                <a:lnTo>
                  <a:pt x="491363" y="303044"/>
                </a:lnTo>
                <a:lnTo>
                  <a:pt x="496201" y="307120"/>
                </a:lnTo>
                <a:lnTo>
                  <a:pt x="500367" y="311984"/>
                </a:lnTo>
                <a:lnTo>
                  <a:pt x="504532" y="316848"/>
                </a:lnTo>
                <a:lnTo>
                  <a:pt x="507809" y="322246"/>
                </a:lnTo>
                <a:lnTo>
                  <a:pt x="510209" y="328190"/>
                </a:lnTo>
                <a:lnTo>
                  <a:pt x="512597" y="334133"/>
                </a:lnTo>
                <a:lnTo>
                  <a:pt x="513981" y="340305"/>
                </a:lnTo>
                <a:lnTo>
                  <a:pt x="514350" y="346693"/>
                </a:lnTo>
              </a:path>
              <a:path w="514350" h="502284">
                <a:moveTo>
                  <a:pt x="514146" y="346706"/>
                </a:moveTo>
                <a:lnTo>
                  <a:pt x="511124" y="417750"/>
                </a:lnTo>
              </a:path>
            </a:pathLst>
          </a:custGeom>
          <a:ln w="22777">
            <a:solidFill>
              <a:srgbClr val="FF94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278812" y="6523107"/>
            <a:ext cx="2378075" cy="2115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61975">
              <a:lnSpc>
                <a:spcPct val="109000"/>
              </a:lnSpc>
              <a:spcBef>
                <a:spcPts val="100"/>
              </a:spcBef>
            </a:pPr>
            <a:r>
              <a:rPr sz="1950" spc="-40" dirty="0">
                <a:solidFill>
                  <a:srgbClr val="66524F"/>
                </a:solidFill>
                <a:latin typeface="Tahoma"/>
                <a:cs typeface="Tahoma"/>
              </a:rPr>
              <a:t>IoT</a:t>
            </a:r>
            <a:r>
              <a:rPr sz="1950" spc="-85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950" spc="170" dirty="0">
                <a:solidFill>
                  <a:srgbClr val="66524F"/>
                </a:solidFill>
                <a:latin typeface="Tahoma"/>
                <a:cs typeface="Tahoma"/>
              </a:rPr>
              <a:t>&amp;</a:t>
            </a:r>
            <a:r>
              <a:rPr sz="1950" spc="-85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66524F"/>
                </a:solidFill>
                <a:latin typeface="Tahoma"/>
                <a:cs typeface="Tahoma"/>
              </a:rPr>
              <a:t>Consumer Devices</a:t>
            </a:r>
            <a:endParaRPr sz="1950">
              <a:latin typeface="Tahoma"/>
              <a:cs typeface="Tahoma"/>
            </a:endParaRPr>
          </a:p>
          <a:p>
            <a:pPr marL="12700" marR="5080">
              <a:lnSpc>
                <a:spcPct val="108300"/>
              </a:lnSpc>
              <a:spcBef>
                <a:spcPts val="825"/>
              </a:spcBef>
            </a:pP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Integration</a:t>
            </a:r>
            <a:r>
              <a:rPr sz="1350" spc="-9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into</a:t>
            </a:r>
            <a:r>
              <a:rPr sz="1350" spc="-9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24F"/>
                </a:solidFill>
                <a:latin typeface="Verdana"/>
                <a:cs typeface="Verdana"/>
              </a:rPr>
              <a:t>smart </a:t>
            </a:r>
            <a:r>
              <a:rPr sz="1350" spc="-40" dirty="0">
                <a:solidFill>
                  <a:srgbClr val="66524F"/>
                </a:solidFill>
                <a:latin typeface="Verdana"/>
                <a:cs typeface="Verdana"/>
              </a:rPr>
              <a:t>glasses,</a:t>
            </a:r>
            <a:r>
              <a:rPr sz="1350" spc="-6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66524F"/>
                </a:solidFill>
                <a:latin typeface="Verdana"/>
                <a:cs typeface="Verdana"/>
              </a:rPr>
              <a:t>vehicles,</a:t>
            </a:r>
            <a:r>
              <a:rPr sz="1350" spc="-6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and</a:t>
            </a:r>
            <a:r>
              <a:rPr sz="1350" spc="-5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smart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home </a:t>
            </a:r>
            <a:r>
              <a:rPr sz="1350" spc="-25" dirty="0">
                <a:solidFill>
                  <a:srgbClr val="66524F"/>
                </a:solidFill>
                <a:latin typeface="Verdana"/>
                <a:cs typeface="Verdana"/>
              </a:rPr>
              <a:t>systems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24F"/>
                </a:solidFill>
                <a:latin typeface="Verdana"/>
                <a:cs typeface="Verdana"/>
              </a:rPr>
              <a:t>for </a:t>
            </a:r>
            <a:r>
              <a:rPr sz="1350" spc="-20" dirty="0">
                <a:solidFill>
                  <a:srgbClr val="66524F"/>
                </a:solidFill>
                <a:latin typeface="Verdana"/>
                <a:cs typeface="Verdana"/>
              </a:rPr>
              <a:t>personalized,</a:t>
            </a:r>
            <a:r>
              <a:rPr sz="1350" spc="1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66524F"/>
                </a:solidFill>
                <a:latin typeface="Verdana"/>
                <a:cs typeface="Verdana"/>
              </a:rPr>
              <a:t>eye-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based profile</a:t>
            </a:r>
            <a:r>
              <a:rPr sz="1350" spc="-3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login</a:t>
            </a:r>
            <a:r>
              <a:rPr sz="1350" spc="-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and</a:t>
            </a:r>
            <a:r>
              <a:rPr sz="1350" spc="-3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feature control.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9334500"/>
          </a:xfrm>
          <a:custGeom>
            <a:avLst/>
            <a:gdLst/>
            <a:ahLst/>
            <a:cxnLst/>
            <a:rect l="l" t="t" r="r" b="b"/>
            <a:pathLst>
              <a:path w="11430000" h="9334500">
                <a:moveTo>
                  <a:pt x="11430000" y="0"/>
                </a:moveTo>
                <a:lnTo>
                  <a:pt x="0" y="0"/>
                </a:lnTo>
                <a:lnTo>
                  <a:pt x="0" y="9334500"/>
                </a:lnTo>
                <a:lnTo>
                  <a:pt x="11430000" y="93345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FF4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87375" y="2598388"/>
            <a:ext cx="2693670" cy="3213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dirty="0">
                <a:solidFill>
                  <a:srgbClr val="522317"/>
                </a:solidFill>
                <a:latin typeface="Tahoma"/>
                <a:cs typeface="Tahoma"/>
              </a:rPr>
              <a:t>CHAPTER</a:t>
            </a:r>
            <a:r>
              <a:rPr sz="1950" spc="-85" dirty="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522317"/>
                </a:solidFill>
                <a:latin typeface="Tahoma"/>
                <a:cs typeface="Tahoma"/>
              </a:rPr>
              <a:t>4</a:t>
            </a:r>
            <a:r>
              <a:rPr sz="1950" spc="-80" dirty="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sz="1950" spc="90" dirty="0">
                <a:solidFill>
                  <a:srgbClr val="522317"/>
                </a:solidFill>
                <a:latin typeface="Tahoma"/>
                <a:cs typeface="Tahoma"/>
              </a:rPr>
              <a:t>/</a:t>
            </a:r>
            <a:r>
              <a:rPr sz="1950" spc="-80" dirty="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sz="1950" spc="65" dirty="0">
                <a:solidFill>
                  <a:srgbClr val="522317"/>
                </a:solidFill>
                <a:latin typeface="Tahoma"/>
                <a:cs typeface="Tahoma"/>
              </a:rPr>
              <a:t>OUTLOOK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3182937"/>
            <a:ext cx="6562090" cy="1208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750" dirty="0"/>
              <a:t>Looking</a:t>
            </a:r>
            <a:r>
              <a:rPr sz="7750" spc="15" dirty="0"/>
              <a:t> </a:t>
            </a:r>
            <a:r>
              <a:rPr sz="7750" spc="140" dirty="0"/>
              <a:t>Ahead</a:t>
            </a:r>
            <a:endParaRPr sz="7750"/>
          </a:p>
        </p:txBody>
      </p:sp>
      <p:grpSp>
        <p:nvGrpSpPr>
          <p:cNvPr id="6" name="object 6"/>
          <p:cNvGrpSpPr/>
          <p:nvPr/>
        </p:nvGrpSpPr>
        <p:grpSpPr>
          <a:xfrm>
            <a:off x="600074" y="4733925"/>
            <a:ext cx="5029200" cy="3267075"/>
            <a:chOff x="600074" y="4733925"/>
            <a:chExt cx="5029200" cy="3267075"/>
          </a:xfrm>
        </p:grpSpPr>
        <p:sp>
          <p:nvSpPr>
            <p:cNvPr id="7" name="object 7"/>
            <p:cNvSpPr/>
            <p:nvPr/>
          </p:nvSpPr>
          <p:spPr>
            <a:xfrm>
              <a:off x="609600" y="4991100"/>
              <a:ext cx="5010150" cy="3000375"/>
            </a:xfrm>
            <a:custGeom>
              <a:avLst/>
              <a:gdLst/>
              <a:ahLst/>
              <a:cxnLst/>
              <a:rect l="l" t="t" r="r" b="b"/>
              <a:pathLst>
                <a:path w="5010150" h="3000375">
                  <a:moveTo>
                    <a:pt x="4947856" y="0"/>
                  </a:moveTo>
                  <a:lnTo>
                    <a:pt x="62299" y="0"/>
                  </a:lnTo>
                  <a:lnTo>
                    <a:pt x="57964" y="482"/>
                  </a:lnTo>
                  <a:lnTo>
                    <a:pt x="22622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2949892"/>
                  </a:lnTo>
                  <a:lnTo>
                    <a:pt x="0" y="2953207"/>
                  </a:lnTo>
                  <a:lnTo>
                    <a:pt x="17129" y="2987929"/>
                  </a:lnTo>
                  <a:lnTo>
                    <a:pt x="47169" y="3000375"/>
                  </a:lnTo>
                  <a:lnTo>
                    <a:pt x="4962982" y="3000375"/>
                  </a:lnTo>
                  <a:lnTo>
                    <a:pt x="4997704" y="2983242"/>
                  </a:lnTo>
                  <a:lnTo>
                    <a:pt x="5010150" y="2953207"/>
                  </a:lnTo>
                  <a:lnTo>
                    <a:pt x="5010150" y="71196"/>
                  </a:lnTo>
                  <a:lnTo>
                    <a:pt x="4996484" y="29705"/>
                  </a:lnTo>
                  <a:lnTo>
                    <a:pt x="4964950" y="3886"/>
                  </a:lnTo>
                  <a:lnTo>
                    <a:pt x="4952187" y="482"/>
                  </a:lnTo>
                  <a:lnTo>
                    <a:pt x="4947856" y="0"/>
                  </a:lnTo>
                  <a:close/>
                </a:path>
              </a:pathLst>
            </a:custGeom>
            <a:solidFill>
              <a:srgbClr val="FFFFF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0062" y="4991950"/>
              <a:ext cx="5029200" cy="3009265"/>
            </a:xfrm>
            <a:custGeom>
              <a:avLst/>
              <a:gdLst/>
              <a:ahLst/>
              <a:cxnLst/>
              <a:rect l="l" t="t" r="r" b="b"/>
              <a:pathLst>
                <a:path w="5029200" h="3009265">
                  <a:moveTo>
                    <a:pt x="5029200" y="75361"/>
                  </a:moveTo>
                  <a:lnTo>
                    <a:pt x="5016373" y="33020"/>
                  </a:lnTo>
                  <a:lnTo>
                    <a:pt x="4982159" y="4965"/>
                  </a:lnTo>
                  <a:lnTo>
                    <a:pt x="4963769" y="0"/>
                  </a:lnTo>
                  <a:lnTo>
                    <a:pt x="4967871" y="1092"/>
                  </a:lnTo>
                  <a:lnTo>
                    <a:pt x="4981867" y="8826"/>
                  </a:lnTo>
                  <a:lnTo>
                    <a:pt x="5005794" y="46202"/>
                  </a:lnTo>
                  <a:lnTo>
                    <a:pt x="5010150" y="75361"/>
                  </a:lnTo>
                  <a:lnTo>
                    <a:pt x="5010150" y="2949054"/>
                  </a:lnTo>
                  <a:lnTo>
                    <a:pt x="4997640" y="2978442"/>
                  </a:lnTo>
                  <a:lnTo>
                    <a:pt x="4991849" y="2983255"/>
                  </a:lnTo>
                  <a:lnTo>
                    <a:pt x="4984928" y="2987002"/>
                  </a:lnTo>
                  <a:lnTo>
                    <a:pt x="4977371" y="2989249"/>
                  </a:lnTo>
                  <a:lnTo>
                    <a:pt x="4969192" y="2990011"/>
                  </a:lnTo>
                  <a:lnTo>
                    <a:pt x="60007" y="2990011"/>
                  </a:lnTo>
                  <a:lnTo>
                    <a:pt x="51841" y="2989249"/>
                  </a:lnTo>
                  <a:lnTo>
                    <a:pt x="44284" y="2987002"/>
                  </a:lnTo>
                  <a:lnTo>
                    <a:pt x="37363" y="2983255"/>
                  </a:lnTo>
                  <a:lnTo>
                    <a:pt x="31559" y="2978454"/>
                  </a:lnTo>
                  <a:lnTo>
                    <a:pt x="31051" y="2978010"/>
                  </a:lnTo>
                  <a:lnTo>
                    <a:pt x="25806" y="2971698"/>
                  </a:lnTo>
                  <a:lnTo>
                    <a:pt x="22059" y="2964764"/>
                  </a:lnTo>
                  <a:lnTo>
                    <a:pt x="19812" y="2957220"/>
                  </a:lnTo>
                  <a:lnTo>
                    <a:pt x="19050" y="2949054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2957017"/>
                  </a:lnTo>
                  <a:lnTo>
                    <a:pt x="1524" y="2964662"/>
                  </a:lnTo>
                  <a:lnTo>
                    <a:pt x="7620" y="2979369"/>
                  </a:lnTo>
                  <a:lnTo>
                    <a:pt x="11950" y="2985859"/>
                  </a:lnTo>
                  <a:lnTo>
                    <a:pt x="17805" y="2991713"/>
                  </a:lnTo>
                  <a:lnTo>
                    <a:pt x="23202" y="2997111"/>
                  </a:lnTo>
                  <a:lnTo>
                    <a:pt x="29692" y="3001441"/>
                  </a:lnTo>
                  <a:lnTo>
                    <a:pt x="44399" y="3007537"/>
                  </a:lnTo>
                  <a:lnTo>
                    <a:pt x="52057" y="3009061"/>
                  </a:lnTo>
                  <a:lnTo>
                    <a:pt x="4977155" y="3009061"/>
                  </a:lnTo>
                  <a:lnTo>
                    <a:pt x="4984801" y="3007537"/>
                  </a:lnTo>
                  <a:lnTo>
                    <a:pt x="4999507" y="3001441"/>
                  </a:lnTo>
                  <a:lnTo>
                    <a:pt x="5005997" y="2997111"/>
                  </a:lnTo>
                  <a:lnTo>
                    <a:pt x="5011153" y="2991955"/>
                  </a:lnTo>
                  <a:lnTo>
                    <a:pt x="5011623" y="2991485"/>
                  </a:lnTo>
                  <a:lnTo>
                    <a:pt x="5017249" y="2985859"/>
                  </a:lnTo>
                  <a:lnTo>
                    <a:pt x="5021580" y="2979369"/>
                  </a:lnTo>
                  <a:lnTo>
                    <a:pt x="5027638" y="2964764"/>
                  </a:lnTo>
                  <a:lnTo>
                    <a:pt x="5029162" y="2957220"/>
                  </a:lnTo>
                  <a:lnTo>
                    <a:pt x="5029200" y="75361"/>
                  </a:lnTo>
                  <a:close/>
                </a:path>
              </a:pathLst>
            </a:custGeom>
            <a:solidFill>
              <a:srgbClr val="FFE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075" y="4733924"/>
              <a:ext cx="5029200" cy="514350"/>
            </a:xfrm>
            <a:custGeom>
              <a:avLst/>
              <a:gdLst/>
              <a:ahLst/>
              <a:cxnLst/>
              <a:rect l="l" t="t" r="r" b="b"/>
              <a:pathLst>
                <a:path w="5029200" h="514350">
                  <a:moveTo>
                    <a:pt x="5029200" y="294195"/>
                  </a:moveTo>
                  <a:lnTo>
                    <a:pt x="5014404" y="258483"/>
                  </a:lnTo>
                  <a:lnTo>
                    <a:pt x="4977041" y="238506"/>
                  </a:lnTo>
                  <a:lnTo>
                    <a:pt x="4973129" y="238125"/>
                  </a:lnTo>
                  <a:lnTo>
                    <a:pt x="2771140" y="238125"/>
                  </a:lnTo>
                  <a:lnTo>
                    <a:pt x="2769717" y="223583"/>
                  </a:lnTo>
                  <a:lnTo>
                    <a:pt x="2758262" y="174459"/>
                  </a:lnTo>
                  <a:lnTo>
                    <a:pt x="2737434" y="128511"/>
                  </a:lnTo>
                  <a:lnTo>
                    <a:pt x="2708059" y="87515"/>
                  </a:lnTo>
                  <a:lnTo>
                    <a:pt x="2671241" y="53035"/>
                  </a:lnTo>
                  <a:lnTo>
                    <a:pt x="2628404" y="26403"/>
                  </a:lnTo>
                  <a:lnTo>
                    <a:pt x="2581198" y="8623"/>
                  </a:lnTo>
                  <a:lnTo>
                    <a:pt x="2531427" y="406"/>
                  </a:lnTo>
                  <a:lnTo>
                    <a:pt x="2523020" y="0"/>
                  </a:lnTo>
                  <a:lnTo>
                    <a:pt x="2506180" y="0"/>
                  </a:lnTo>
                  <a:lnTo>
                    <a:pt x="2456154" y="6578"/>
                  </a:lnTo>
                  <a:lnTo>
                    <a:pt x="2408402" y="22796"/>
                  </a:lnTo>
                  <a:lnTo>
                    <a:pt x="2364714" y="48018"/>
                  </a:lnTo>
                  <a:lnTo>
                    <a:pt x="2326792" y="81280"/>
                  </a:lnTo>
                  <a:lnTo>
                    <a:pt x="2296083" y="121297"/>
                  </a:lnTo>
                  <a:lnTo>
                    <a:pt x="2273782" y="166535"/>
                  </a:lnTo>
                  <a:lnTo>
                    <a:pt x="2260727" y="215265"/>
                  </a:lnTo>
                  <a:lnTo>
                    <a:pt x="2258047" y="238125"/>
                  </a:lnTo>
                  <a:lnTo>
                    <a:pt x="56057" y="238125"/>
                  </a:lnTo>
                  <a:lnTo>
                    <a:pt x="20358" y="252920"/>
                  </a:lnTo>
                  <a:lnTo>
                    <a:pt x="381" y="290283"/>
                  </a:lnTo>
                  <a:lnTo>
                    <a:pt x="0" y="294195"/>
                  </a:lnTo>
                  <a:lnTo>
                    <a:pt x="0" y="314325"/>
                  </a:lnTo>
                  <a:lnTo>
                    <a:pt x="2263737" y="314325"/>
                  </a:lnTo>
                  <a:lnTo>
                    <a:pt x="2263991" y="315607"/>
                  </a:lnTo>
                  <a:lnTo>
                    <a:pt x="2280208" y="363372"/>
                  </a:lnTo>
                  <a:lnTo>
                    <a:pt x="2305443" y="407060"/>
                  </a:lnTo>
                  <a:lnTo>
                    <a:pt x="2338705" y="444982"/>
                  </a:lnTo>
                  <a:lnTo>
                    <a:pt x="2378722" y="475691"/>
                  </a:lnTo>
                  <a:lnTo>
                    <a:pt x="2423960" y="497992"/>
                  </a:lnTo>
                  <a:lnTo>
                    <a:pt x="2472690" y="511048"/>
                  </a:lnTo>
                  <a:lnTo>
                    <a:pt x="2506180" y="514350"/>
                  </a:lnTo>
                  <a:lnTo>
                    <a:pt x="2523020" y="514350"/>
                  </a:lnTo>
                  <a:lnTo>
                    <a:pt x="2573032" y="507758"/>
                  </a:lnTo>
                  <a:lnTo>
                    <a:pt x="2620797" y="491553"/>
                  </a:lnTo>
                  <a:lnTo>
                    <a:pt x="2664485" y="466331"/>
                  </a:lnTo>
                  <a:lnTo>
                    <a:pt x="2702407" y="433070"/>
                  </a:lnTo>
                  <a:lnTo>
                    <a:pt x="2733116" y="393052"/>
                  </a:lnTo>
                  <a:lnTo>
                    <a:pt x="2755430" y="347802"/>
                  </a:lnTo>
                  <a:lnTo>
                    <a:pt x="2765450" y="314325"/>
                  </a:lnTo>
                  <a:lnTo>
                    <a:pt x="5029200" y="314325"/>
                  </a:lnTo>
                  <a:lnTo>
                    <a:pt x="5029200" y="294195"/>
                  </a:lnTo>
                  <a:close/>
                </a:path>
              </a:pathLst>
            </a:custGeom>
            <a:solidFill>
              <a:srgbClr val="FF9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072358" y="4839334"/>
            <a:ext cx="8636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-455" dirty="0">
                <a:latin typeface="Tahoma"/>
                <a:cs typeface="Tahoma"/>
              </a:rPr>
              <a:t>1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28675" y="5991224"/>
            <a:ext cx="57150" cy="1066800"/>
          </a:xfrm>
          <a:custGeom>
            <a:avLst/>
            <a:gdLst/>
            <a:ahLst/>
            <a:cxnLst/>
            <a:rect l="l" t="t" r="r" b="b"/>
            <a:pathLst>
              <a:path w="57150" h="1066800">
                <a:moveTo>
                  <a:pt x="57150" y="1034440"/>
                </a:moveTo>
                <a:lnTo>
                  <a:pt x="32359" y="1009650"/>
                </a:lnTo>
                <a:lnTo>
                  <a:pt x="24777" y="1009650"/>
                </a:lnTo>
                <a:lnTo>
                  <a:pt x="0" y="1034440"/>
                </a:lnTo>
                <a:lnTo>
                  <a:pt x="0" y="1042009"/>
                </a:lnTo>
                <a:lnTo>
                  <a:pt x="24777" y="1066800"/>
                </a:lnTo>
                <a:lnTo>
                  <a:pt x="32359" y="1066800"/>
                </a:lnTo>
                <a:lnTo>
                  <a:pt x="57150" y="1042009"/>
                </a:lnTo>
                <a:lnTo>
                  <a:pt x="57150" y="1038225"/>
                </a:lnTo>
                <a:lnTo>
                  <a:pt x="57150" y="1034440"/>
                </a:lnTo>
                <a:close/>
              </a:path>
              <a:path w="57150" h="1066800">
                <a:moveTo>
                  <a:pt x="57150" y="529628"/>
                </a:moveTo>
                <a:lnTo>
                  <a:pt x="32359" y="504837"/>
                </a:lnTo>
                <a:lnTo>
                  <a:pt x="24777" y="504837"/>
                </a:lnTo>
                <a:lnTo>
                  <a:pt x="0" y="529628"/>
                </a:lnTo>
                <a:lnTo>
                  <a:pt x="0" y="537197"/>
                </a:lnTo>
                <a:lnTo>
                  <a:pt x="24777" y="561987"/>
                </a:lnTo>
                <a:lnTo>
                  <a:pt x="32359" y="561987"/>
                </a:lnTo>
                <a:lnTo>
                  <a:pt x="57150" y="537197"/>
                </a:lnTo>
                <a:lnTo>
                  <a:pt x="57150" y="533412"/>
                </a:lnTo>
                <a:lnTo>
                  <a:pt x="57150" y="529628"/>
                </a:lnTo>
                <a:close/>
              </a:path>
              <a:path w="57150" h="1066800">
                <a:moveTo>
                  <a:pt x="57150" y="24803"/>
                </a:moveTo>
                <a:lnTo>
                  <a:pt x="32359" y="0"/>
                </a:lnTo>
                <a:lnTo>
                  <a:pt x="24777" y="0"/>
                </a:lnTo>
                <a:lnTo>
                  <a:pt x="0" y="24803"/>
                </a:lnTo>
                <a:lnTo>
                  <a:pt x="0" y="32372"/>
                </a:lnTo>
                <a:lnTo>
                  <a:pt x="24777" y="57162"/>
                </a:lnTo>
                <a:lnTo>
                  <a:pt x="32359" y="57162"/>
                </a:lnTo>
                <a:lnTo>
                  <a:pt x="57150" y="32372"/>
                </a:lnTo>
                <a:lnTo>
                  <a:pt x="57150" y="28587"/>
                </a:lnTo>
                <a:lnTo>
                  <a:pt x="57150" y="24803"/>
                </a:lnTo>
                <a:close/>
              </a:path>
            </a:pathLst>
          </a:custGeom>
          <a:solidFill>
            <a:srgbClr val="6652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77875" y="5397023"/>
            <a:ext cx="3921125" cy="17272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55" dirty="0">
                <a:solidFill>
                  <a:srgbClr val="66524F"/>
                </a:solidFill>
                <a:latin typeface="Tahoma"/>
                <a:cs typeface="Tahoma"/>
              </a:rPr>
              <a:t>Current</a:t>
            </a:r>
            <a:r>
              <a:rPr sz="2300" spc="-45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2300" spc="-10" dirty="0">
                <a:solidFill>
                  <a:srgbClr val="66524F"/>
                </a:solidFill>
                <a:latin typeface="Tahoma"/>
                <a:cs typeface="Tahoma"/>
              </a:rPr>
              <a:t>Limitations</a:t>
            </a:r>
            <a:endParaRPr sz="2300">
              <a:latin typeface="Tahoma"/>
              <a:cs typeface="Tahoma"/>
            </a:endParaRPr>
          </a:p>
          <a:p>
            <a:pPr marL="286385" marR="147955">
              <a:lnSpc>
                <a:spcPct val="111100"/>
              </a:lnSpc>
              <a:spcBef>
                <a:spcPts val="860"/>
              </a:spcBef>
            </a:pPr>
            <a:r>
              <a:rPr sz="1350" spc="-30" dirty="0">
                <a:solidFill>
                  <a:srgbClr val="66524F"/>
                </a:solidFill>
                <a:latin typeface="Verdana"/>
                <a:cs typeface="Verdana"/>
              </a:rPr>
              <a:t>System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24F"/>
                </a:solidFill>
                <a:latin typeface="Verdana"/>
                <a:cs typeface="Verdana"/>
              </a:rPr>
              <a:t>reliability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66524F"/>
                </a:solidFill>
                <a:latin typeface="Verdana"/>
                <a:cs typeface="Verdana"/>
              </a:rPr>
              <a:t>is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highly dependent</a:t>
            </a:r>
            <a:r>
              <a:rPr sz="1350" spc="-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24F"/>
                </a:solidFill>
                <a:latin typeface="Verdana"/>
                <a:cs typeface="Verdana"/>
              </a:rPr>
              <a:t>on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consistent</a:t>
            </a:r>
            <a:r>
              <a:rPr sz="1350" spc="7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b="1" dirty="0">
                <a:solidFill>
                  <a:srgbClr val="66524F"/>
                </a:solidFill>
                <a:latin typeface="Tahoma"/>
                <a:cs typeface="Tahoma"/>
              </a:rPr>
              <a:t>lighting</a:t>
            </a:r>
            <a:r>
              <a:rPr sz="1350" b="1" spc="204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66524F"/>
                </a:solidFill>
                <a:latin typeface="Tahoma"/>
                <a:cs typeface="Tahoma"/>
              </a:rPr>
              <a:t>conditions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.</a:t>
            </a:r>
            <a:endParaRPr sz="1350">
              <a:latin typeface="Verdana"/>
              <a:cs typeface="Verdana"/>
            </a:endParaRPr>
          </a:p>
          <a:p>
            <a:pPr marL="286385" marR="143510">
              <a:lnSpc>
                <a:spcPct val="111100"/>
              </a:lnSpc>
              <a:spcBef>
                <a:spcPts val="380"/>
              </a:spcBef>
            </a:pP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Users</a:t>
            </a:r>
            <a:r>
              <a:rPr sz="1350" spc="-6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require</a:t>
            </a:r>
            <a:r>
              <a:rPr sz="1350" spc="-6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b="1" dirty="0">
                <a:solidFill>
                  <a:srgbClr val="66524F"/>
                </a:solidFill>
                <a:latin typeface="Tahoma"/>
                <a:cs typeface="Tahoma"/>
              </a:rPr>
              <a:t>initial</a:t>
            </a:r>
            <a:r>
              <a:rPr sz="1350" b="1" spc="55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350" b="1" dirty="0">
                <a:solidFill>
                  <a:srgbClr val="66524F"/>
                </a:solidFill>
                <a:latin typeface="Tahoma"/>
                <a:cs typeface="Tahoma"/>
              </a:rPr>
              <a:t>training</a:t>
            </a:r>
            <a:r>
              <a:rPr sz="1350" b="1" spc="20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to</a:t>
            </a:r>
            <a:r>
              <a:rPr sz="1350" spc="-6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maintain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consistent</a:t>
            </a:r>
            <a:r>
              <a:rPr sz="1350" spc="-3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blink</a:t>
            </a:r>
            <a:r>
              <a:rPr sz="1350" spc="-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timing.</a:t>
            </a:r>
            <a:endParaRPr sz="1350">
              <a:latin typeface="Verdana"/>
              <a:cs typeface="Verdana"/>
            </a:endParaRPr>
          </a:p>
          <a:p>
            <a:pPr marL="286385">
              <a:lnSpc>
                <a:spcPct val="100000"/>
              </a:lnSpc>
              <a:spcBef>
                <a:spcPts val="555"/>
              </a:spcBef>
            </a:pP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Risk</a:t>
            </a:r>
            <a:r>
              <a:rPr sz="1350" spc="-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of</a:t>
            </a:r>
            <a:r>
              <a:rPr sz="1350" spc="-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b="1" dirty="0">
                <a:solidFill>
                  <a:srgbClr val="66524F"/>
                </a:solidFill>
                <a:latin typeface="Tahoma"/>
                <a:cs typeface="Tahoma"/>
              </a:rPr>
              <a:t>blink</a:t>
            </a:r>
            <a:r>
              <a:rPr sz="1350" b="1" spc="114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350" b="1" dirty="0">
                <a:solidFill>
                  <a:srgbClr val="66524F"/>
                </a:solidFill>
                <a:latin typeface="Tahoma"/>
                <a:cs typeface="Tahoma"/>
              </a:rPr>
              <a:t>fatigue</a:t>
            </a:r>
            <a:r>
              <a:rPr sz="1350" b="1" spc="80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during</a:t>
            </a:r>
            <a:r>
              <a:rPr sz="1350" spc="-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extended</a:t>
            </a:r>
            <a:r>
              <a:rPr sz="1350" spc="-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24F"/>
                </a:solidFill>
                <a:latin typeface="Verdana"/>
                <a:cs typeface="Verdana"/>
              </a:rPr>
              <a:t>use.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800724" y="4733925"/>
            <a:ext cx="5029200" cy="3267075"/>
            <a:chOff x="5800724" y="4733925"/>
            <a:chExt cx="5029200" cy="3267075"/>
          </a:xfrm>
        </p:grpSpPr>
        <p:sp>
          <p:nvSpPr>
            <p:cNvPr id="14" name="object 14"/>
            <p:cNvSpPr/>
            <p:nvPr/>
          </p:nvSpPr>
          <p:spPr>
            <a:xfrm>
              <a:off x="5810250" y="4991100"/>
              <a:ext cx="5010150" cy="3000375"/>
            </a:xfrm>
            <a:custGeom>
              <a:avLst/>
              <a:gdLst/>
              <a:ahLst/>
              <a:cxnLst/>
              <a:rect l="l" t="t" r="r" b="b"/>
              <a:pathLst>
                <a:path w="5010150" h="3000375">
                  <a:moveTo>
                    <a:pt x="4947856" y="0"/>
                  </a:moveTo>
                  <a:lnTo>
                    <a:pt x="62293" y="0"/>
                  </a:lnTo>
                  <a:lnTo>
                    <a:pt x="57962" y="482"/>
                  </a:lnTo>
                  <a:lnTo>
                    <a:pt x="22618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2949892"/>
                  </a:lnTo>
                  <a:lnTo>
                    <a:pt x="0" y="2953207"/>
                  </a:lnTo>
                  <a:lnTo>
                    <a:pt x="17132" y="2987929"/>
                  </a:lnTo>
                  <a:lnTo>
                    <a:pt x="47167" y="3000375"/>
                  </a:lnTo>
                  <a:lnTo>
                    <a:pt x="4962982" y="3000375"/>
                  </a:lnTo>
                  <a:lnTo>
                    <a:pt x="4997704" y="2983242"/>
                  </a:lnTo>
                  <a:lnTo>
                    <a:pt x="5010150" y="2953207"/>
                  </a:lnTo>
                  <a:lnTo>
                    <a:pt x="5010150" y="71196"/>
                  </a:lnTo>
                  <a:lnTo>
                    <a:pt x="4996484" y="29705"/>
                  </a:lnTo>
                  <a:lnTo>
                    <a:pt x="4964950" y="3886"/>
                  </a:lnTo>
                  <a:lnTo>
                    <a:pt x="4952187" y="482"/>
                  </a:lnTo>
                  <a:lnTo>
                    <a:pt x="4947856" y="0"/>
                  </a:lnTo>
                  <a:close/>
                </a:path>
              </a:pathLst>
            </a:custGeom>
            <a:solidFill>
              <a:srgbClr val="FFFFF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00712" y="4991950"/>
              <a:ext cx="5029200" cy="3009265"/>
            </a:xfrm>
            <a:custGeom>
              <a:avLst/>
              <a:gdLst/>
              <a:ahLst/>
              <a:cxnLst/>
              <a:rect l="l" t="t" r="r" b="b"/>
              <a:pathLst>
                <a:path w="5029200" h="3009265">
                  <a:moveTo>
                    <a:pt x="5029200" y="75361"/>
                  </a:moveTo>
                  <a:lnTo>
                    <a:pt x="5016373" y="33020"/>
                  </a:lnTo>
                  <a:lnTo>
                    <a:pt x="4982159" y="4965"/>
                  </a:lnTo>
                  <a:lnTo>
                    <a:pt x="4963757" y="0"/>
                  </a:lnTo>
                  <a:lnTo>
                    <a:pt x="4967871" y="1092"/>
                  </a:lnTo>
                  <a:lnTo>
                    <a:pt x="4981867" y="8826"/>
                  </a:lnTo>
                  <a:lnTo>
                    <a:pt x="5005794" y="46202"/>
                  </a:lnTo>
                  <a:lnTo>
                    <a:pt x="5010150" y="75361"/>
                  </a:lnTo>
                  <a:lnTo>
                    <a:pt x="5010150" y="2949054"/>
                  </a:lnTo>
                  <a:lnTo>
                    <a:pt x="4997640" y="2978442"/>
                  </a:lnTo>
                  <a:lnTo>
                    <a:pt x="4991849" y="2983255"/>
                  </a:lnTo>
                  <a:lnTo>
                    <a:pt x="4984928" y="2987002"/>
                  </a:lnTo>
                  <a:lnTo>
                    <a:pt x="4977371" y="2989249"/>
                  </a:lnTo>
                  <a:lnTo>
                    <a:pt x="4969192" y="2990011"/>
                  </a:lnTo>
                  <a:lnTo>
                    <a:pt x="60007" y="2990011"/>
                  </a:lnTo>
                  <a:lnTo>
                    <a:pt x="31064" y="2978010"/>
                  </a:lnTo>
                  <a:lnTo>
                    <a:pt x="25806" y="2971698"/>
                  </a:lnTo>
                  <a:lnTo>
                    <a:pt x="22059" y="2964764"/>
                  </a:lnTo>
                  <a:lnTo>
                    <a:pt x="19812" y="2957220"/>
                  </a:lnTo>
                  <a:lnTo>
                    <a:pt x="19050" y="2949054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2957017"/>
                  </a:lnTo>
                  <a:lnTo>
                    <a:pt x="1524" y="2964662"/>
                  </a:lnTo>
                  <a:lnTo>
                    <a:pt x="7607" y="2979369"/>
                  </a:lnTo>
                  <a:lnTo>
                    <a:pt x="11950" y="2985859"/>
                  </a:lnTo>
                  <a:lnTo>
                    <a:pt x="17805" y="2991713"/>
                  </a:lnTo>
                  <a:lnTo>
                    <a:pt x="23202" y="2997111"/>
                  </a:lnTo>
                  <a:lnTo>
                    <a:pt x="29692" y="3001441"/>
                  </a:lnTo>
                  <a:lnTo>
                    <a:pt x="44399" y="3007537"/>
                  </a:lnTo>
                  <a:lnTo>
                    <a:pt x="52044" y="3009061"/>
                  </a:lnTo>
                  <a:lnTo>
                    <a:pt x="4977155" y="3009061"/>
                  </a:lnTo>
                  <a:lnTo>
                    <a:pt x="4984801" y="3007537"/>
                  </a:lnTo>
                  <a:lnTo>
                    <a:pt x="4999507" y="3001441"/>
                  </a:lnTo>
                  <a:lnTo>
                    <a:pt x="5005997" y="2997111"/>
                  </a:lnTo>
                  <a:lnTo>
                    <a:pt x="5011153" y="2991955"/>
                  </a:lnTo>
                  <a:lnTo>
                    <a:pt x="5011623" y="2991485"/>
                  </a:lnTo>
                  <a:lnTo>
                    <a:pt x="5017249" y="2985859"/>
                  </a:lnTo>
                  <a:lnTo>
                    <a:pt x="5021580" y="2979369"/>
                  </a:lnTo>
                  <a:lnTo>
                    <a:pt x="5027638" y="2964764"/>
                  </a:lnTo>
                  <a:lnTo>
                    <a:pt x="5029162" y="2957220"/>
                  </a:lnTo>
                  <a:lnTo>
                    <a:pt x="5029200" y="75361"/>
                  </a:lnTo>
                  <a:close/>
                </a:path>
              </a:pathLst>
            </a:custGeom>
            <a:solidFill>
              <a:srgbClr val="FFE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00725" y="4733924"/>
              <a:ext cx="5029200" cy="514350"/>
            </a:xfrm>
            <a:custGeom>
              <a:avLst/>
              <a:gdLst/>
              <a:ahLst/>
              <a:cxnLst/>
              <a:rect l="l" t="t" r="r" b="b"/>
              <a:pathLst>
                <a:path w="5029200" h="514350">
                  <a:moveTo>
                    <a:pt x="5029200" y="294195"/>
                  </a:moveTo>
                  <a:lnTo>
                    <a:pt x="5014417" y="258483"/>
                  </a:lnTo>
                  <a:lnTo>
                    <a:pt x="4977041" y="238506"/>
                  </a:lnTo>
                  <a:lnTo>
                    <a:pt x="4973129" y="238125"/>
                  </a:lnTo>
                  <a:lnTo>
                    <a:pt x="2771140" y="238125"/>
                  </a:lnTo>
                  <a:lnTo>
                    <a:pt x="2769717" y="223583"/>
                  </a:lnTo>
                  <a:lnTo>
                    <a:pt x="2758262" y="174459"/>
                  </a:lnTo>
                  <a:lnTo>
                    <a:pt x="2737434" y="128511"/>
                  </a:lnTo>
                  <a:lnTo>
                    <a:pt x="2708059" y="87515"/>
                  </a:lnTo>
                  <a:lnTo>
                    <a:pt x="2671241" y="53035"/>
                  </a:lnTo>
                  <a:lnTo>
                    <a:pt x="2628404" y="26403"/>
                  </a:lnTo>
                  <a:lnTo>
                    <a:pt x="2581198" y="8623"/>
                  </a:lnTo>
                  <a:lnTo>
                    <a:pt x="2531427" y="406"/>
                  </a:lnTo>
                  <a:lnTo>
                    <a:pt x="2523020" y="0"/>
                  </a:lnTo>
                  <a:lnTo>
                    <a:pt x="2506180" y="0"/>
                  </a:lnTo>
                  <a:lnTo>
                    <a:pt x="2456167" y="6578"/>
                  </a:lnTo>
                  <a:lnTo>
                    <a:pt x="2408402" y="22796"/>
                  </a:lnTo>
                  <a:lnTo>
                    <a:pt x="2364714" y="48018"/>
                  </a:lnTo>
                  <a:lnTo>
                    <a:pt x="2326792" y="81280"/>
                  </a:lnTo>
                  <a:lnTo>
                    <a:pt x="2296083" y="121297"/>
                  </a:lnTo>
                  <a:lnTo>
                    <a:pt x="2273782" y="166535"/>
                  </a:lnTo>
                  <a:lnTo>
                    <a:pt x="2260727" y="215265"/>
                  </a:lnTo>
                  <a:lnTo>
                    <a:pt x="2258047" y="238125"/>
                  </a:lnTo>
                  <a:lnTo>
                    <a:pt x="56057" y="238125"/>
                  </a:lnTo>
                  <a:lnTo>
                    <a:pt x="20358" y="252920"/>
                  </a:lnTo>
                  <a:lnTo>
                    <a:pt x="381" y="290283"/>
                  </a:lnTo>
                  <a:lnTo>
                    <a:pt x="0" y="294195"/>
                  </a:lnTo>
                  <a:lnTo>
                    <a:pt x="0" y="314325"/>
                  </a:lnTo>
                  <a:lnTo>
                    <a:pt x="2263737" y="314325"/>
                  </a:lnTo>
                  <a:lnTo>
                    <a:pt x="2264003" y="315607"/>
                  </a:lnTo>
                  <a:lnTo>
                    <a:pt x="2280221" y="363372"/>
                  </a:lnTo>
                  <a:lnTo>
                    <a:pt x="2305443" y="407060"/>
                  </a:lnTo>
                  <a:lnTo>
                    <a:pt x="2338705" y="444982"/>
                  </a:lnTo>
                  <a:lnTo>
                    <a:pt x="2378722" y="475691"/>
                  </a:lnTo>
                  <a:lnTo>
                    <a:pt x="2423960" y="497992"/>
                  </a:lnTo>
                  <a:lnTo>
                    <a:pt x="2472690" y="511048"/>
                  </a:lnTo>
                  <a:lnTo>
                    <a:pt x="2506180" y="514350"/>
                  </a:lnTo>
                  <a:lnTo>
                    <a:pt x="2523020" y="514350"/>
                  </a:lnTo>
                  <a:lnTo>
                    <a:pt x="2573032" y="507758"/>
                  </a:lnTo>
                  <a:lnTo>
                    <a:pt x="2620797" y="491553"/>
                  </a:lnTo>
                  <a:lnTo>
                    <a:pt x="2664485" y="466331"/>
                  </a:lnTo>
                  <a:lnTo>
                    <a:pt x="2702407" y="433070"/>
                  </a:lnTo>
                  <a:lnTo>
                    <a:pt x="2733116" y="393052"/>
                  </a:lnTo>
                  <a:lnTo>
                    <a:pt x="2755430" y="347802"/>
                  </a:lnTo>
                  <a:lnTo>
                    <a:pt x="2765450" y="314325"/>
                  </a:lnTo>
                  <a:lnTo>
                    <a:pt x="5029200" y="314325"/>
                  </a:lnTo>
                  <a:lnTo>
                    <a:pt x="5029200" y="294195"/>
                  </a:lnTo>
                  <a:close/>
                </a:path>
              </a:pathLst>
            </a:custGeom>
            <a:solidFill>
              <a:srgbClr val="FF9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248598" y="4839334"/>
            <a:ext cx="13525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-50" dirty="0">
                <a:latin typeface="Tahoma"/>
                <a:cs typeface="Tahoma"/>
              </a:rPr>
              <a:t>2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029325" y="5991224"/>
            <a:ext cx="57150" cy="1295400"/>
          </a:xfrm>
          <a:custGeom>
            <a:avLst/>
            <a:gdLst/>
            <a:ahLst/>
            <a:cxnLst/>
            <a:rect l="l" t="t" r="r" b="b"/>
            <a:pathLst>
              <a:path w="57150" h="1295400">
                <a:moveTo>
                  <a:pt x="57150" y="1263040"/>
                </a:moveTo>
                <a:lnTo>
                  <a:pt x="32346" y="1238250"/>
                </a:lnTo>
                <a:lnTo>
                  <a:pt x="24790" y="1238250"/>
                </a:lnTo>
                <a:lnTo>
                  <a:pt x="0" y="1263040"/>
                </a:lnTo>
                <a:lnTo>
                  <a:pt x="0" y="1270609"/>
                </a:lnTo>
                <a:lnTo>
                  <a:pt x="24790" y="1295400"/>
                </a:lnTo>
                <a:lnTo>
                  <a:pt x="32346" y="1295400"/>
                </a:lnTo>
                <a:lnTo>
                  <a:pt x="57150" y="1270609"/>
                </a:lnTo>
                <a:lnTo>
                  <a:pt x="57150" y="1266825"/>
                </a:lnTo>
                <a:lnTo>
                  <a:pt x="57150" y="1263040"/>
                </a:lnTo>
                <a:close/>
              </a:path>
              <a:path w="57150" h="1295400">
                <a:moveTo>
                  <a:pt x="57150" y="758215"/>
                </a:moveTo>
                <a:lnTo>
                  <a:pt x="32346" y="733437"/>
                </a:lnTo>
                <a:lnTo>
                  <a:pt x="24790" y="733437"/>
                </a:lnTo>
                <a:lnTo>
                  <a:pt x="0" y="758215"/>
                </a:lnTo>
                <a:lnTo>
                  <a:pt x="0" y="765784"/>
                </a:lnTo>
                <a:lnTo>
                  <a:pt x="24790" y="790575"/>
                </a:lnTo>
                <a:lnTo>
                  <a:pt x="32346" y="790575"/>
                </a:lnTo>
                <a:lnTo>
                  <a:pt x="57150" y="765784"/>
                </a:lnTo>
                <a:lnTo>
                  <a:pt x="57150" y="762000"/>
                </a:lnTo>
                <a:lnTo>
                  <a:pt x="57150" y="758215"/>
                </a:lnTo>
                <a:close/>
              </a:path>
              <a:path w="57150" h="1295400">
                <a:moveTo>
                  <a:pt x="57150" y="24803"/>
                </a:moveTo>
                <a:lnTo>
                  <a:pt x="32346" y="0"/>
                </a:lnTo>
                <a:lnTo>
                  <a:pt x="24790" y="0"/>
                </a:lnTo>
                <a:lnTo>
                  <a:pt x="0" y="24803"/>
                </a:lnTo>
                <a:lnTo>
                  <a:pt x="0" y="32372"/>
                </a:lnTo>
                <a:lnTo>
                  <a:pt x="24790" y="57162"/>
                </a:lnTo>
                <a:lnTo>
                  <a:pt x="32346" y="57162"/>
                </a:lnTo>
                <a:lnTo>
                  <a:pt x="57150" y="32372"/>
                </a:lnTo>
                <a:lnTo>
                  <a:pt x="57150" y="28587"/>
                </a:lnTo>
                <a:lnTo>
                  <a:pt x="57150" y="24803"/>
                </a:lnTo>
                <a:close/>
              </a:path>
            </a:pathLst>
          </a:custGeom>
          <a:solidFill>
            <a:srgbClr val="6652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978525" y="5397023"/>
            <a:ext cx="4598670" cy="24034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dirty="0">
                <a:solidFill>
                  <a:srgbClr val="66524F"/>
                </a:solidFill>
                <a:latin typeface="Tahoma"/>
                <a:cs typeface="Tahoma"/>
              </a:rPr>
              <a:t>Future</a:t>
            </a:r>
            <a:r>
              <a:rPr sz="2300" spc="175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2300" dirty="0">
                <a:solidFill>
                  <a:srgbClr val="66524F"/>
                </a:solidFill>
                <a:latin typeface="Tahoma"/>
                <a:cs typeface="Tahoma"/>
              </a:rPr>
              <a:t>Development</a:t>
            </a:r>
            <a:r>
              <a:rPr sz="2300" spc="180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2300" spc="-10" dirty="0">
                <a:solidFill>
                  <a:srgbClr val="66524F"/>
                </a:solidFill>
                <a:latin typeface="Tahoma"/>
                <a:cs typeface="Tahoma"/>
              </a:rPr>
              <a:t>Scope</a:t>
            </a:r>
            <a:endParaRPr sz="2300">
              <a:latin typeface="Tahoma"/>
              <a:cs typeface="Tahoma"/>
            </a:endParaRPr>
          </a:p>
          <a:p>
            <a:pPr marL="286385" marR="6985" indent="-635">
              <a:lnSpc>
                <a:spcPct val="108800"/>
              </a:lnSpc>
              <a:spcBef>
                <a:spcPts val="900"/>
              </a:spcBef>
            </a:pPr>
            <a:r>
              <a:rPr sz="1350" b="1" dirty="0">
                <a:solidFill>
                  <a:srgbClr val="66524F"/>
                </a:solidFill>
                <a:latin typeface="Tahoma"/>
                <a:cs typeface="Tahoma"/>
              </a:rPr>
              <a:t>Adaptive</a:t>
            </a:r>
            <a:r>
              <a:rPr sz="1350" b="1" spc="145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350" b="1" dirty="0">
                <a:solidFill>
                  <a:srgbClr val="66524F"/>
                </a:solidFill>
                <a:latin typeface="Tahoma"/>
                <a:cs typeface="Tahoma"/>
              </a:rPr>
              <a:t>Calibration:</a:t>
            </a:r>
            <a:r>
              <a:rPr sz="1350" b="1" spc="110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Dynamic</a:t>
            </a:r>
            <a:r>
              <a:rPr sz="1350" spc="2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adjustment</a:t>
            </a:r>
            <a:r>
              <a:rPr sz="1350" spc="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of</a:t>
            </a:r>
            <a:r>
              <a:rPr sz="1350" spc="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24F"/>
                </a:solidFill>
                <a:latin typeface="Verdana"/>
                <a:cs typeface="Verdana"/>
              </a:rPr>
              <a:t>the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EAR</a:t>
            </a:r>
            <a:r>
              <a:rPr sz="1350" spc="-4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threshold</a:t>
            </a:r>
            <a:r>
              <a:rPr sz="1350" spc="-4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based</a:t>
            </a:r>
            <a:r>
              <a:rPr sz="1350" spc="-4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on</a:t>
            </a:r>
            <a:r>
              <a:rPr sz="1350" spc="-4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user</a:t>
            </a:r>
            <a:r>
              <a:rPr sz="1350" spc="-4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physiology</a:t>
            </a:r>
            <a:r>
              <a:rPr sz="1350" spc="-3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24F"/>
                </a:solidFill>
                <a:latin typeface="Verdana"/>
                <a:cs typeface="Verdana"/>
              </a:rPr>
              <a:t>and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environment.</a:t>
            </a:r>
            <a:endParaRPr sz="1350">
              <a:latin typeface="Verdana"/>
              <a:cs typeface="Verdana"/>
            </a:endParaRPr>
          </a:p>
          <a:p>
            <a:pPr marL="286385" marR="5080">
              <a:lnSpc>
                <a:spcPct val="106500"/>
              </a:lnSpc>
              <a:spcBef>
                <a:spcPts val="525"/>
              </a:spcBef>
            </a:pPr>
            <a:r>
              <a:rPr sz="1350" b="1" spc="75" dirty="0">
                <a:solidFill>
                  <a:srgbClr val="66524F"/>
                </a:solidFill>
                <a:latin typeface="Tahoma"/>
                <a:cs typeface="Tahoma"/>
              </a:rPr>
              <a:t>Web</a:t>
            </a:r>
            <a:r>
              <a:rPr sz="1350" b="1" spc="110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66524F"/>
                </a:solidFill>
                <a:latin typeface="Tahoma"/>
                <a:cs typeface="Tahoma"/>
              </a:rPr>
              <a:t>Integration:</a:t>
            </a:r>
            <a:r>
              <a:rPr sz="1350" b="1" spc="75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Implementing</a:t>
            </a:r>
            <a:r>
              <a:rPr sz="1350" spc="-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WebRTC</a:t>
            </a:r>
            <a:r>
              <a:rPr sz="1350" spc="-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24F"/>
                </a:solidFill>
                <a:latin typeface="Verdana"/>
                <a:cs typeface="Verdana"/>
              </a:rPr>
              <a:t>for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66524F"/>
                </a:solidFill>
                <a:latin typeface="Verdana"/>
                <a:cs typeface="Verdana"/>
              </a:rPr>
              <a:t>real-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time</a:t>
            </a:r>
            <a:r>
              <a:rPr sz="1350" spc="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authentication</a:t>
            </a:r>
            <a:r>
              <a:rPr sz="1350" spc="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in</a:t>
            </a:r>
            <a:r>
              <a:rPr sz="1350" spc="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web-based</a:t>
            </a:r>
            <a:r>
              <a:rPr sz="1350" spc="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applications.</a:t>
            </a:r>
            <a:endParaRPr sz="1350">
              <a:latin typeface="Verdana"/>
              <a:cs typeface="Verdana"/>
            </a:endParaRPr>
          </a:p>
          <a:p>
            <a:pPr marL="286385" marR="53975">
              <a:lnSpc>
                <a:spcPct val="108800"/>
              </a:lnSpc>
              <a:spcBef>
                <a:spcPts val="484"/>
              </a:spcBef>
            </a:pPr>
            <a:r>
              <a:rPr sz="1350" b="1" spc="45" dirty="0">
                <a:solidFill>
                  <a:srgbClr val="66524F"/>
                </a:solidFill>
                <a:latin typeface="Tahoma"/>
                <a:cs typeface="Tahoma"/>
              </a:rPr>
              <a:t>Biometric</a:t>
            </a:r>
            <a:r>
              <a:rPr sz="1350" b="1" spc="114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350" b="1" dirty="0">
                <a:solidFill>
                  <a:srgbClr val="66524F"/>
                </a:solidFill>
                <a:latin typeface="Tahoma"/>
                <a:cs typeface="Tahoma"/>
              </a:rPr>
              <a:t>Fusion:</a:t>
            </a:r>
            <a:r>
              <a:rPr sz="1350" b="1" spc="80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Combining</a:t>
            </a:r>
            <a:r>
              <a:rPr sz="1350" spc="-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blink</a:t>
            </a:r>
            <a:r>
              <a:rPr sz="1350" spc="-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patterns</a:t>
            </a:r>
            <a:r>
              <a:rPr sz="1350" spc="-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24F"/>
                </a:solidFill>
                <a:latin typeface="Verdana"/>
                <a:cs typeface="Verdana"/>
              </a:rPr>
              <a:t>with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other</a:t>
            </a:r>
            <a:r>
              <a:rPr sz="1350" spc="-6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biometrics</a:t>
            </a:r>
            <a:r>
              <a:rPr sz="1350" spc="-6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25" dirty="0">
                <a:solidFill>
                  <a:srgbClr val="66524F"/>
                </a:solidFill>
                <a:latin typeface="Verdana"/>
                <a:cs typeface="Verdana"/>
              </a:rPr>
              <a:t>(e.g.,</a:t>
            </a:r>
            <a:r>
              <a:rPr sz="1350" spc="-6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66524F"/>
                </a:solidFill>
                <a:latin typeface="Verdana"/>
                <a:cs typeface="Verdana"/>
              </a:rPr>
              <a:t>iris</a:t>
            </a:r>
            <a:r>
              <a:rPr sz="1350" spc="-6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66524F"/>
                </a:solidFill>
                <a:latin typeface="Verdana"/>
                <a:cs typeface="Verdana"/>
              </a:rPr>
              <a:t>scan)</a:t>
            </a:r>
            <a:r>
              <a:rPr sz="1350" spc="-6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24F"/>
                </a:solidFill>
                <a:latin typeface="Verdana"/>
                <a:cs typeface="Verdana"/>
              </a:rPr>
              <a:t>for</a:t>
            </a:r>
            <a:r>
              <a:rPr sz="1350" spc="-6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multi-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factor security.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44550" y="8374064"/>
            <a:ext cx="836168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65" dirty="0">
                <a:solidFill>
                  <a:srgbClr val="FF944F"/>
                </a:solidFill>
                <a:latin typeface="Verdana"/>
                <a:cs typeface="Verdana"/>
              </a:rPr>
              <a:t>Bridging</a:t>
            </a:r>
            <a:r>
              <a:rPr sz="1650" spc="-25" dirty="0">
                <a:solidFill>
                  <a:srgbClr val="FF944F"/>
                </a:solidFill>
                <a:latin typeface="Verdana"/>
                <a:cs typeface="Verdana"/>
              </a:rPr>
              <a:t> </a:t>
            </a:r>
            <a:r>
              <a:rPr sz="1650" spc="90" dirty="0">
                <a:solidFill>
                  <a:srgbClr val="FF944F"/>
                </a:solidFill>
                <a:latin typeface="Verdana"/>
                <a:cs typeface="Verdana"/>
              </a:rPr>
              <a:t>human</a:t>
            </a:r>
            <a:r>
              <a:rPr sz="1650" spc="-25" dirty="0">
                <a:solidFill>
                  <a:srgbClr val="FF944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FF944F"/>
                </a:solidFill>
                <a:latin typeface="Verdana"/>
                <a:cs typeface="Verdana"/>
              </a:rPr>
              <a:t>intention</a:t>
            </a:r>
            <a:r>
              <a:rPr sz="1650" spc="-25" dirty="0">
                <a:solidFill>
                  <a:srgbClr val="FF944F"/>
                </a:solidFill>
                <a:latin typeface="Verdana"/>
                <a:cs typeface="Verdana"/>
              </a:rPr>
              <a:t> </a:t>
            </a:r>
            <a:r>
              <a:rPr sz="1650" spc="70" dirty="0">
                <a:solidFill>
                  <a:srgbClr val="FF944F"/>
                </a:solidFill>
                <a:latin typeface="Verdana"/>
                <a:cs typeface="Verdana"/>
              </a:rPr>
              <a:t>and</a:t>
            </a:r>
            <a:r>
              <a:rPr sz="1650" spc="-25" dirty="0">
                <a:solidFill>
                  <a:srgbClr val="FF944F"/>
                </a:solidFill>
                <a:latin typeface="Verdana"/>
                <a:cs typeface="Verdana"/>
              </a:rPr>
              <a:t> </a:t>
            </a:r>
            <a:r>
              <a:rPr sz="1650" spc="65" dirty="0">
                <a:solidFill>
                  <a:srgbClr val="FF944F"/>
                </a:solidFill>
                <a:latin typeface="Verdana"/>
                <a:cs typeface="Verdana"/>
              </a:rPr>
              <a:t>machine</a:t>
            </a:r>
            <a:r>
              <a:rPr sz="1650" spc="-20" dirty="0">
                <a:solidFill>
                  <a:srgbClr val="FF944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FF944F"/>
                </a:solidFill>
                <a:latin typeface="Verdana"/>
                <a:cs typeface="Verdana"/>
              </a:rPr>
              <a:t>authentication</a:t>
            </a:r>
            <a:r>
              <a:rPr sz="1650" spc="-25" dirty="0">
                <a:solidFill>
                  <a:srgbClr val="FF944F"/>
                </a:solidFill>
                <a:latin typeface="Verdana"/>
                <a:cs typeface="Verdana"/>
              </a:rPr>
              <a:t> </a:t>
            </a:r>
            <a:r>
              <a:rPr sz="1650" spc="630" dirty="0">
                <a:solidFill>
                  <a:srgbClr val="66524F"/>
                </a:solidFill>
                <a:latin typeface="Verdana"/>
                <a:cs typeface="Verdana"/>
              </a:rPr>
              <a:t>4</a:t>
            </a:r>
            <a:r>
              <a:rPr sz="1650" spc="-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650" spc="50" dirty="0">
                <a:solidFill>
                  <a:srgbClr val="66524F"/>
                </a:solidFill>
                <a:latin typeface="Verdana"/>
                <a:cs typeface="Verdana"/>
              </a:rPr>
              <a:t>one</a:t>
            </a:r>
            <a:r>
              <a:rPr sz="1650" spc="-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66524F"/>
                </a:solidFill>
                <a:latin typeface="Verdana"/>
                <a:cs typeface="Verdana"/>
              </a:rPr>
              <a:t>blink</a:t>
            </a:r>
            <a:r>
              <a:rPr sz="1650" spc="-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66524F"/>
                </a:solidFill>
                <a:latin typeface="Verdana"/>
                <a:cs typeface="Verdana"/>
              </a:rPr>
              <a:t>at</a:t>
            </a:r>
            <a:r>
              <a:rPr sz="1650" spc="-2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66524F"/>
                </a:solidFill>
                <a:latin typeface="Verdana"/>
                <a:cs typeface="Verdana"/>
              </a:rPr>
              <a:t>a</a:t>
            </a:r>
            <a:r>
              <a:rPr sz="1650" spc="-2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66524F"/>
                </a:solidFill>
                <a:latin typeface="Verdana"/>
                <a:cs typeface="Verdana"/>
              </a:rPr>
              <a:t>time.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00075" y="8191501"/>
            <a:ext cx="19050" cy="666750"/>
          </a:xfrm>
          <a:custGeom>
            <a:avLst/>
            <a:gdLst/>
            <a:ahLst/>
            <a:cxnLst/>
            <a:rect l="l" t="t" r="r" b="b"/>
            <a:pathLst>
              <a:path w="19050" h="666750">
                <a:moveTo>
                  <a:pt x="19050" y="0"/>
                </a:moveTo>
                <a:lnTo>
                  <a:pt x="0" y="0"/>
                </a:lnTo>
                <a:lnTo>
                  <a:pt x="0" y="666750"/>
                </a:lnTo>
                <a:lnTo>
                  <a:pt x="19050" y="666750"/>
                </a:lnTo>
                <a:lnTo>
                  <a:pt x="19050" y="0"/>
                </a:lnTo>
                <a:close/>
              </a:path>
            </a:pathLst>
          </a:custGeom>
          <a:solidFill>
            <a:srgbClr val="FF944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462</Words>
  <Application>Microsoft Office PowerPoint</Application>
  <PresentationFormat>Custom</PresentationFormat>
  <Paragraphs>51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Tahoma</vt:lpstr>
      <vt:lpstr>Times New Roman</vt:lpstr>
      <vt:lpstr>Verdana</vt:lpstr>
      <vt:lpstr>Office Theme</vt:lpstr>
      <vt:lpstr>Morse Code Blink Authentication System</vt:lpstr>
      <vt:lpstr>Silent Security: Why Blink Authentication?</vt:lpstr>
      <vt:lpstr>Technical Deep Dive: From Eyelid to Encrypted PIN</vt:lpstr>
      <vt:lpstr>CHAPTER 3 / REAL-WORLD ADOPTION Transformative Applications &amp; Use Cases</vt:lpstr>
      <vt:lpstr>Looking Ahead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creator>GOWTHAM NACHU</dc:creator>
  <cp:lastModifiedBy>GOWTHAM NACHU</cp:lastModifiedBy>
  <cp:revision>1</cp:revision>
  <dcterms:created xsi:type="dcterms:W3CDTF">2025-11-07T08:47:56Z</dcterms:created>
  <dcterms:modified xsi:type="dcterms:W3CDTF">2025-11-07T08:59:57Z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2025-11-07T00:00:00Z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2025-11-07T00:00:00Z</vt:filetime>
  </property>
  <property fmtid="{D5CDD505-2E9C-101B-9397-08002B2CF9AE}" pid="5" name="Producer">
    <vt:lpwstr>GPL Ghostscript 9.56.1</vt:lpwstr>
  </property>
</Properties>
</file>